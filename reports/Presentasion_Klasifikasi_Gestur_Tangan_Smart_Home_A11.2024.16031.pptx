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379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B"/>
        </a:solidFill>
        <a:effectLst/>
      </p:bgPr>
    </p:bg>
    <p:spTree>
      <p:nvGrpSpPr>
        <p:cNvPr id="1" name=""/>
        <p:cNvGrpSpPr/>
        <p:nvPr/>
      </p:nvGrpSpPr>
      <p:grpSpPr>
        <a:xfrm>
          <a:off x="0" y="0"/>
          <a:ext cx="0" cy="0"/>
          <a:chOff x="0" y="0"/>
          <a:chExt cx="0" cy="0"/>
        </a:xfrm>
      </p:grpSpPr>
      <p:sp>
        <p:nvSpPr>
          <p:cNvPr id="2" name="Text 0"/>
          <p:cNvSpPr/>
          <p:nvPr/>
        </p:nvSpPr>
        <p:spPr>
          <a:xfrm>
            <a:off x="822960" y="777240"/>
            <a:ext cx="9144000" cy="320040"/>
          </a:xfrm>
          <a:prstGeom prst="rect">
            <a:avLst/>
          </a:prstGeom>
          <a:noFill/>
          <a:ln/>
        </p:spPr>
        <p:txBody>
          <a:bodyPr wrap="square" rtlCol="0" anchor="ctr"/>
          <a:lstStyle/>
          <a:p>
            <a:pPr marL="0" indent="0">
              <a:buNone/>
            </a:pPr>
            <a:r>
              <a:rPr lang="en-US" sz="1150" b="1" kern="0" spc="200" dirty="0">
                <a:solidFill>
                  <a:srgbClr val="8B95A6"/>
                </a:solidFill>
                <a:latin typeface="Calibri" pitchFamily="34" charset="0"/>
                <a:ea typeface="Calibri" pitchFamily="34" charset="-122"/>
                <a:cs typeface="Calibri" pitchFamily="34" charset="-120"/>
              </a:rPr>
              <a:t>CAPSTONE PROJECT — UAS PEMBELAJARAN MESIN</a:t>
            </a:r>
            <a:endParaRPr lang="en-US" sz="1150" dirty="0"/>
          </a:p>
        </p:txBody>
      </p:sp>
      <p:sp>
        <p:nvSpPr>
          <p:cNvPr id="3" name="Text 1"/>
          <p:cNvSpPr/>
          <p:nvPr/>
        </p:nvSpPr>
        <p:spPr>
          <a:xfrm>
            <a:off x="822960" y="2286000"/>
            <a:ext cx="1042416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AI-Powered Smart Home Control</a:t>
            </a:r>
            <a:endParaRPr lang="en-US" sz="3800" dirty="0"/>
          </a:p>
        </p:txBody>
      </p:sp>
      <p:sp>
        <p:nvSpPr>
          <p:cNvPr id="4" name="Text 2"/>
          <p:cNvSpPr/>
          <p:nvPr/>
        </p:nvSpPr>
        <p:spPr>
          <a:xfrm>
            <a:off x="822960" y="2999232"/>
            <a:ext cx="10241280" cy="502920"/>
          </a:xfrm>
          <a:prstGeom prst="rect">
            <a:avLst/>
          </a:prstGeom>
          <a:noFill/>
          <a:ln/>
        </p:spPr>
        <p:txBody>
          <a:bodyPr wrap="square" rtlCol="0" anchor="ctr"/>
          <a:lstStyle/>
          <a:p>
            <a:pPr marL="0" indent="0">
              <a:buNone/>
            </a:pPr>
            <a:r>
              <a:rPr lang="en-US" sz="2000" dirty="0">
                <a:solidFill>
                  <a:srgbClr val="C3CAD6"/>
                </a:solidFill>
                <a:latin typeface="Cambria" pitchFamily="34" charset="0"/>
                <a:ea typeface="Cambria" pitchFamily="34" charset="-122"/>
                <a:cs typeface="Cambria" pitchFamily="34" charset="-120"/>
              </a:rPr>
              <a:t>Klasifikasi Gestur Tangan Real-Time Berbasis Hand Landmark</a:t>
            </a:r>
            <a:endParaRPr lang="en-US" sz="2000" dirty="0"/>
          </a:p>
        </p:txBody>
      </p:sp>
      <p:sp>
        <p:nvSpPr>
          <p:cNvPr id="5" name="Text 3"/>
          <p:cNvSpPr/>
          <p:nvPr/>
        </p:nvSpPr>
        <p:spPr>
          <a:xfrm>
            <a:off x="822960" y="3703320"/>
            <a:ext cx="7863840" cy="777240"/>
          </a:xfrm>
          <a:prstGeom prst="rect">
            <a:avLst/>
          </a:prstGeom>
          <a:noFill/>
          <a:ln/>
        </p:spPr>
        <p:txBody>
          <a:bodyPr wrap="square" rtlCol="0" anchor="ctr"/>
          <a:lstStyle/>
          <a:p>
            <a:pPr marL="0" indent="0">
              <a:lnSpc>
                <a:spcPct val="130000"/>
              </a:lnSpc>
              <a:buNone/>
            </a:pPr>
            <a:r>
              <a:rPr lang="en-US" sz="1250" dirty="0">
                <a:solidFill>
                  <a:srgbClr val="9AA2AD"/>
                </a:solidFill>
                <a:latin typeface="Calibri" pitchFamily="34" charset="0"/>
                <a:ea typeface="Calibri" pitchFamily="34" charset="-122"/>
                <a:cs typeface="Calibri" pitchFamily="34" charset="-120"/>
              </a:rPr>
              <a:t>Analisis komparasi dan interpretasi model Support Vector Machine dan Random Forest untuk mengendalikan saklar lampu rumah pintar melalui 21 titik koordinat landmark tangan (MediaPipe).</a:t>
            </a:r>
            <a:endParaRPr lang="en-US" sz="1250" dirty="0"/>
          </a:p>
        </p:txBody>
      </p:sp>
      <p:sp>
        <p:nvSpPr>
          <p:cNvPr id="6" name="Shape 4"/>
          <p:cNvSpPr/>
          <p:nvPr/>
        </p:nvSpPr>
        <p:spPr>
          <a:xfrm>
            <a:off x="822960" y="5074920"/>
            <a:ext cx="10424160" cy="0"/>
          </a:xfrm>
          <a:prstGeom prst="line">
            <a:avLst/>
          </a:prstGeom>
          <a:noFill/>
          <a:ln w="9525">
            <a:solidFill>
              <a:srgbClr val="2B3A56"/>
            </a:solidFill>
            <a:prstDash val="solid"/>
          </a:ln>
        </p:spPr>
      </p:sp>
      <p:sp>
        <p:nvSpPr>
          <p:cNvPr id="7" name="Text 5"/>
          <p:cNvSpPr/>
          <p:nvPr/>
        </p:nvSpPr>
        <p:spPr>
          <a:xfrm>
            <a:off x="822960" y="5257800"/>
            <a:ext cx="548640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Muhammad Zakaria </a:t>
            </a:r>
            <a:r>
              <a:rPr lang="en-US" sz="1350" b="1" dirty="0" err="1">
                <a:solidFill>
                  <a:srgbClr val="FFFFFF"/>
                </a:solidFill>
                <a:latin typeface="Calibri" pitchFamily="34" charset="0"/>
                <a:ea typeface="Calibri" pitchFamily="34" charset="-122"/>
                <a:cs typeface="Calibri" pitchFamily="34" charset="-120"/>
              </a:rPr>
              <a:t>Putranto</a:t>
            </a:r>
            <a:endParaRPr lang="en-US" sz="1350" dirty="0"/>
          </a:p>
        </p:txBody>
      </p:sp>
      <p:sp>
        <p:nvSpPr>
          <p:cNvPr id="8" name="Text 6"/>
          <p:cNvSpPr/>
          <p:nvPr/>
        </p:nvSpPr>
        <p:spPr>
          <a:xfrm>
            <a:off x="822960" y="5577840"/>
            <a:ext cx="8686800" cy="274320"/>
          </a:xfrm>
          <a:prstGeom prst="rect">
            <a:avLst/>
          </a:prstGeom>
          <a:noFill/>
          <a:ln/>
        </p:spPr>
        <p:txBody>
          <a:bodyPr wrap="square" rtlCol="0" anchor="ctr"/>
          <a:lstStyle/>
          <a:p>
            <a:pPr marL="0" indent="0">
              <a:buNone/>
            </a:pPr>
            <a:r>
              <a:rPr lang="en-US" sz="1050" dirty="0">
                <a:solidFill>
                  <a:srgbClr val="8B95A6"/>
                </a:solidFill>
                <a:latin typeface="Calibri" pitchFamily="34" charset="0"/>
                <a:ea typeface="Calibri" pitchFamily="34" charset="-122"/>
                <a:cs typeface="Calibri" pitchFamily="34" charset="-120"/>
              </a:rPr>
              <a:t>Program Studi Teknik Informatika / Sistem Informasi — Fakultas Ilmu Komputer, Universitas Dian Nuswantoro (UDINUS)</a:t>
            </a:r>
            <a:endParaRPr lang="en-US" sz="1050" dirty="0"/>
          </a:p>
        </p:txBody>
      </p:sp>
      <p:sp>
        <p:nvSpPr>
          <p:cNvPr id="9" name="Text 7"/>
          <p:cNvSpPr/>
          <p:nvPr/>
        </p:nvSpPr>
        <p:spPr>
          <a:xfrm>
            <a:off x="822960" y="5833872"/>
            <a:ext cx="8686800" cy="274320"/>
          </a:xfrm>
          <a:prstGeom prst="rect">
            <a:avLst/>
          </a:prstGeom>
          <a:noFill/>
          <a:ln/>
        </p:spPr>
        <p:txBody>
          <a:bodyPr wrap="square" rtlCol="0" anchor="ctr"/>
          <a:lstStyle/>
          <a:p>
            <a:pPr marL="0" indent="0">
              <a:buNone/>
            </a:pPr>
            <a:r>
              <a:rPr lang="en-US" sz="1050" dirty="0">
                <a:solidFill>
                  <a:srgbClr val="8B95A6"/>
                </a:solidFill>
                <a:latin typeface="Calibri" pitchFamily="34" charset="0"/>
                <a:ea typeface="Calibri" pitchFamily="34" charset="-122"/>
                <a:cs typeface="Calibri" pitchFamily="34" charset="-120"/>
              </a:rPr>
              <a:t>Semester Genap 2025/2026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01. LATAR BELAKANG</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Masalah pada Kontrol Smart Home Konvensional</a:t>
            </a:r>
            <a:endParaRPr lang="en-US" sz="2500" dirty="0"/>
          </a:p>
        </p:txBody>
      </p:sp>
      <p:sp>
        <p:nvSpPr>
          <p:cNvPr id="4" name="Text 2"/>
          <p:cNvSpPr/>
          <p:nvPr/>
        </p:nvSpPr>
        <p:spPr>
          <a:xfrm>
            <a:off x="822960" y="1536192"/>
            <a:ext cx="6492240" cy="1371600"/>
          </a:xfrm>
          <a:prstGeom prst="rect">
            <a:avLst/>
          </a:prstGeom>
          <a:noFill/>
          <a:ln/>
        </p:spPr>
        <p:txBody>
          <a:bodyPr wrap="square" rtlCol="0" anchor="ctr"/>
          <a:lstStyle/>
          <a:p>
            <a:pPr marL="0" indent="0">
              <a:lnSpc>
                <a:spcPct val="135000"/>
              </a:lnSpc>
              <a:buNone/>
            </a:pPr>
            <a:r>
              <a:rPr lang="en-US" sz="1250" dirty="0">
                <a:solidFill>
                  <a:srgbClr val="5B6472"/>
                </a:solidFill>
                <a:latin typeface="Calibri" pitchFamily="34" charset="0"/>
                <a:ea typeface="Calibri" pitchFamily="34" charset="-122"/>
                <a:cs typeface="Calibri" pitchFamily="34" charset="-120"/>
              </a:rPr>
              <a:t>Sistem kendali berbasis remote atau aplikasi kurang praktis dalam banyak situasi. Di sisi lain, pendekatan Computer Vision konvensional yang memproses gambar mentah (raw pixel) melalui CNN memerlukan daya komputasi GPU yang besar, sehingga kurang cocok untuk perangkat edge rumah pintar berspesifikasi rendah.</a:t>
            </a:r>
            <a:endParaRPr lang="en-US" sz="1250" dirty="0"/>
          </a:p>
        </p:txBody>
      </p:sp>
      <p:sp>
        <p:nvSpPr>
          <p:cNvPr id="5" name="Text 3"/>
          <p:cNvSpPr/>
          <p:nvPr/>
        </p:nvSpPr>
        <p:spPr>
          <a:xfrm>
            <a:off x="822960" y="3063240"/>
            <a:ext cx="548640" cy="365760"/>
          </a:xfrm>
          <a:prstGeom prst="rect">
            <a:avLst/>
          </a:prstGeom>
          <a:noFill/>
          <a:ln/>
        </p:spPr>
        <p:txBody>
          <a:bodyPr wrap="square" rtlCol="0" anchor="ctr"/>
          <a:lstStyle/>
          <a:p>
            <a:pPr marL="0" indent="0">
              <a:buNone/>
            </a:pPr>
            <a:r>
              <a:rPr lang="en-US" sz="1600" b="1" dirty="0">
                <a:solidFill>
                  <a:srgbClr val="C9821F"/>
                </a:solidFill>
                <a:latin typeface="Cambria" pitchFamily="34" charset="0"/>
                <a:ea typeface="Cambria" pitchFamily="34" charset="-122"/>
                <a:cs typeface="Cambria" pitchFamily="34" charset="-120"/>
              </a:rPr>
              <a:t>01</a:t>
            </a:r>
            <a:endParaRPr lang="en-US" sz="1600" dirty="0"/>
          </a:p>
        </p:txBody>
      </p:sp>
      <p:sp>
        <p:nvSpPr>
          <p:cNvPr id="6" name="Text 4"/>
          <p:cNvSpPr/>
          <p:nvPr/>
        </p:nvSpPr>
        <p:spPr>
          <a:xfrm>
            <a:off x="1371600" y="3044952"/>
            <a:ext cx="5852160" cy="457200"/>
          </a:xfrm>
          <a:prstGeom prst="rect">
            <a:avLst/>
          </a:prstGeom>
          <a:noFill/>
          <a:ln/>
        </p:spPr>
        <p:txBody>
          <a:bodyPr wrap="square" rtlCol="0" anchor="ctr"/>
          <a:lstStyle/>
          <a:p>
            <a:pPr marL="0" indent="0">
              <a:lnSpc>
                <a:spcPct val="125000"/>
              </a:lnSpc>
              <a:buNone/>
            </a:pPr>
            <a:r>
              <a:rPr lang="en-US" sz="1150" b="1" dirty="0">
                <a:solidFill>
                  <a:srgbClr val="1E2530"/>
                </a:solidFill>
                <a:latin typeface="Calibri" pitchFamily="34" charset="0"/>
                <a:ea typeface="Calibri" pitchFamily="34" charset="-122"/>
                <a:cs typeface="Calibri" pitchFamily="34" charset="-120"/>
              </a:rPr>
              <a:t>Remote / tombol fisik — </a:t>
            </a:r>
            <a:r>
              <a:rPr lang="en-US" sz="1150" dirty="0">
                <a:solidFill>
                  <a:srgbClr val="5B6472"/>
                </a:solidFill>
                <a:latin typeface="Calibri" pitchFamily="34" charset="0"/>
                <a:ea typeface="Calibri" pitchFamily="34" charset="-122"/>
                <a:cs typeface="Calibri" pitchFamily="34" charset="-120"/>
              </a:rPr>
              <a:t>tidak praktis saat tangan kotor, basah, atau sedang beraktivitas.</a:t>
            </a:r>
            <a:endParaRPr lang="en-US" sz="1150" dirty="0"/>
          </a:p>
        </p:txBody>
      </p:sp>
      <p:sp>
        <p:nvSpPr>
          <p:cNvPr id="7" name="Text 5"/>
          <p:cNvSpPr/>
          <p:nvPr/>
        </p:nvSpPr>
        <p:spPr>
          <a:xfrm>
            <a:off x="822960" y="3630168"/>
            <a:ext cx="548640" cy="365760"/>
          </a:xfrm>
          <a:prstGeom prst="rect">
            <a:avLst/>
          </a:prstGeom>
          <a:noFill/>
          <a:ln/>
        </p:spPr>
        <p:txBody>
          <a:bodyPr wrap="square" rtlCol="0" anchor="ctr"/>
          <a:lstStyle/>
          <a:p>
            <a:pPr marL="0" indent="0">
              <a:buNone/>
            </a:pPr>
            <a:r>
              <a:rPr lang="en-US" sz="1600" b="1" dirty="0">
                <a:solidFill>
                  <a:srgbClr val="C9821F"/>
                </a:solidFill>
                <a:latin typeface="Cambria" pitchFamily="34" charset="0"/>
                <a:ea typeface="Cambria" pitchFamily="34" charset="-122"/>
                <a:cs typeface="Cambria" pitchFamily="34" charset="-120"/>
              </a:rPr>
              <a:t>02</a:t>
            </a:r>
            <a:endParaRPr lang="en-US" sz="1600" dirty="0"/>
          </a:p>
        </p:txBody>
      </p:sp>
      <p:sp>
        <p:nvSpPr>
          <p:cNvPr id="8" name="Text 6"/>
          <p:cNvSpPr/>
          <p:nvPr/>
        </p:nvSpPr>
        <p:spPr>
          <a:xfrm>
            <a:off x="1371600" y="3611880"/>
            <a:ext cx="5852160" cy="457200"/>
          </a:xfrm>
          <a:prstGeom prst="rect">
            <a:avLst/>
          </a:prstGeom>
          <a:noFill/>
          <a:ln/>
        </p:spPr>
        <p:txBody>
          <a:bodyPr wrap="square" rtlCol="0" anchor="ctr"/>
          <a:lstStyle/>
          <a:p>
            <a:pPr marL="0" indent="0">
              <a:lnSpc>
                <a:spcPct val="125000"/>
              </a:lnSpc>
              <a:buNone/>
            </a:pPr>
            <a:r>
              <a:rPr lang="en-US" sz="1150" b="1" dirty="0">
                <a:solidFill>
                  <a:srgbClr val="1E2530"/>
                </a:solidFill>
                <a:latin typeface="Calibri" pitchFamily="34" charset="0"/>
                <a:ea typeface="Calibri" pitchFamily="34" charset="-122"/>
                <a:cs typeface="Calibri" pitchFamily="34" charset="-120"/>
              </a:rPr>
              <a:t>CNN berbasis raw pixel — </a:t>
            </a:r>
            <a:r>
              <a:rPr lang="en-US" sz="1150" dirty="0">
                <a:solidFill>
                  <a:srgbClr val="5B6472"/>
                </a:solidFill>
                <a:latin typeface="Calibri" pitchFamily="34" charset="0"/>
                <a:ea typeface="Calibri" pitchFamily="34" charset="-122"/>
                <a:cs typeface="Calibri" pitchFamily="34" charset="-120"/>
              </a:rPr>
              <a:t>butuh GPU spesifikasi tinggi, sulit dijalankan di edge device hemat daya.</a:t>
            </a:r>
            <a:endParaRPr lang="en-US" sz="1150" dirty="0"/>
          </a:p>
        </p:txBody>
      </p:sp>
      <p:sp>
        <p:nvSpPr>
          <p:cNvPr id="9" name="Text 7"/>
          <p:cNvSpPr/>
          <p:nvPr/>
        </p:nvSpPr>
        <p:spPr>
          <a:xfrm>
            <a:off x="822960" y="4197096"/>
            <a:ext cx="548640" cy="365760"/>
          </a:xfrm>
          <a:prstGeom prst="rect">
            <a:avLst/>
          </a:prstGeom>
          <a:noFill/>
          <a:ln/>
        </p:spPr>
        <p:txBody>
          <a:bodyPr wrap="square" rtlCol="0" anchor="ctr"/>
          <a:lstStyle/>
          <a:p>
            <a:pPr marL="0" indent="0">
              <a:buNone/>
            </a:pPr>
            <a:r>
              <a:rPr lang="en-US" sz="1600" b="1" dirty="0">
                <a:solidFill>
                  <a:srgbClr val="C9821F"/>
                </a:solidFill>
                <a:latin typeface="Cambria" pitchFamily="34" charset="0"/>
                <a:ea typeface="Cambria" pitchFamily="34" charset="-122"/>
                <a:cs typeface="Cambria" pitchFamily="34" charset="-120"/>
              </a:rPr>
              <a:t>03</a:t>
            </a:r>
            <a:endParaRPr lang="en-US" sz="1600" dirty="0"/>
          </a:p>
        </p:txBody>
      </p:sp>
      <p:sp>
        <p:nvSpPr>
          <p:cNvPr id="10" name="Text 8"/>
          <p:cNvSpPr/>
          <p:nvPr/>
        </p:nvSpPr>
        <p:spPr>
          <a:xfrm>
            <a:off x="1371600" y="4178808"/>
            <a:ext cx="5852160" cy="457200"/>
          </a:xfrm>
          <a:prstGeom prst="rect">
            <a:avLst/>
          </a:prstGeom>
          <a:noFill/>
          <a:ln/>
        </p:spPr>
        <p:txBody>
          <a:bodyPr wrap="square" rtlCol="0" anchor="ctr"/>
          <a:lstStyle/>
          <a:p>
            <a:pPr marL="0" indent="0">
              <a:lnSpc>
                <a:spcPct val="125000"/>
              </a:lnSpc>
              <a:buNone/>
            </a:pPr>
            <a:r>
              <a:rPr lang="en-US" sz="1150" b="1" dirty="0">
                <a:solidFill>
                  <a:srgbClr val="1E2530"/>
                </a:solidFill>
                <a:latin typeface="Calibri" pitchFamily="34" charset="0"/>
                <a:ea typeface="Calibri" pitchFamily="34" charset="-122"/>
                <a:cs typeface="Calibri" pitchFamily="34" charset="-120"/>
              </a:rPr>
              <a:t>Model bersifat black-box — </a:t>
            </a:r>
            <a:r>
              <a:rPr lang="en-US" sz="1150" dirty="0">
                <a:solidFill>
                  <a:srgbClr val="5B6472"/>
                </a:solidFill>
                <a:latin typeface="Calibri" pitchFamily="34" charset="0"/>
                <a:ea typeface="Calibri" pitchFamily="34" charset="-122"/>
                <a:cs typeface="Calibri" pitchFamily="34" charset="-120"/>
              </a:rPr>
              <a:t>sulit dijelaskan mengapa suatu gestur diklasifikasikan demikian.</a:t>
            </a:r>
            <a:endParaRPr lang="en-US" sz="1150" dirty="0"/>
          </a:p>
        </p:txBody>
      </p:sp>
      <p:sp>
        <p:nvSpPr>
          <p:cNvPr id="11" name="Shape 9"/>
          <p:cNvSpPr/>
          <p:nvPr/>
        </p:nvSpPr>
        <p:spPr>
          <a:xfrm>
            <a:off x="7635240" y="1536192"/>
            <a:ext cx="0" cy="4434840"/>
          </a:xfrm>
          <a:prstGeom prst="line">
            <a:avLst/>
          </a:prstGeom>
          <a:noFill/>
          <a:ln w="12700">
            <a:solidFill>
              <a:srgbClr val="D9DEE6"/>
            </a:solidFill>
            <a:prstDash val="solid"/>
          </a:ln>
        </p:spPr>
      </p:sp>
      <p:sp>
        <p:nvSpPr>
          <p:cNvPr id="12" name="Text 10"/>
          <p:cNvSpPr/>
          <p:nvPr/>
        </p:nvSpPr>
        <p:spPr>
          <a:xfrm>
            <a:off x="7909560" y="1536192"/>
            <a:ext cx="3657600" cy="365760"/>
          </a:xfrm>
          <a:prstGeom prst="rect">
            <a:avLst/>
          </a:prstGeom>
          <a:noFill/>
          <a:ln/>
        </p:spPr>
        <p:txBody>
          <a:bodyPr wrap="square" rtlCol="0" anchor="ctr"/>
          <a:lstStyle/>
          <a:p>
            <a:pPr marL="0" indent="0">
              <a:buNone/>
            </a:pPr>
            <a:r>
              <a:rPr lang="en-US" sz="1550" b="1" dirty="0">
                <a:solidFill>
                  <a:srgbClr val="1E2530"/>
                </a:solidFill>
                <a:latin typeface="Cambria" pitchFamily="34" charset="0"/>
                <a:ea typeface="Cambria" pitchFamily="34" charset="-122"/>
                <a:cs typeface="Cambria" pitchFamily="34" charset="-120"/>
              </a:rPr>
              <a:t>Solusi yang Ditawarkan</a:t>
            </a:r>
            <a:endParaRPr lang="en-US" sz="1550" dirty="0"/>
          </a:p>
        </p:txBody>
      </p:sp>
      <p:sp>
        <p:nvSpPr>
          <p:cNvPr id="13" name="Text 11"/>
          <p:cNvSpPr/>
          <p:nvPr/>
        </p:nvSpPr>
        <p:spPr>
          <a:xfrm>
            <a:off x="7909560" y="2057400"/>
            <a:ext cx="3657600" cy="868680"/>
          </a:xfrm>
          <a:prstGeom prst="rect">
            <a:avLst/>
          </a:prstGeom>
          <a:noFill/>
          <a:ln/>
        </p:spPr>
        <p:txBody>
          <a:bodyPr wrap="square" rtlCol="0" anchor="ctr"/>
          <a:lstStyle/>
          <a:p>
            <a:pPr marL="0" indent="0">
              <a:lnSpc>
                <a:spcPct val="130000"/>
              </a:lnSpc>
              <a:buNone/>
            </a:pPr>
            <a:r>
              <a:rPr lang="en-US" sz="1100" dirty="0">
                <a:solidFill>
                  <a:srgbClr val="5B6472"/>
                </a:solidFill>
                <a:latin typeface="Calibri" pitchFamily="34" charset="0"/>
                <a:ea typeface="Calibri" pitchFamily="34" charset="-122"/>
                <a:cs typeface="Calibri" pitchFamily="34" charset="-120"/>
              </a:rPr>
              <a:t>Reduksi dimensi: MediaPipe Hands mengekstrak 21 titik landmark (X, Y, Z) menjadi 63 fitur tabular ringan.</a:t>
            </a:r>
            <a:endParaRPr lang="en-US" sz="1100" dirty="0"/>
          </a:p>
        </p:txBody>
      </p:sp>
      <p:sp>
        <p:nvSpPr>
          <p:cNvPr id="14" name="Text 12"/>
          <p:cNvSpPr/>
          <p:nvPr/>
        </p:nvSpPr>
        <p:spPr>
          <a:xfrm>
            <a:off x="7909560" y="3017520"/>
            <a:ext cx="3657600" cy="868680"/>
          </a:xfrm>
          <a:prstGeom prst="rect">
            <a:avLst/>
          </a:prstGeom>
          <a:noFill/>
          <a:ln/>
        </p:spPr>
        <p:txBody>
          <a:bodyPr wrap="square" rtlCol="0" anchor="ctr"/>
          <a:lstStyle/>
          <a:p>
            <a:pPr marL="0" indent="0">
              <a:lnSpc>
                <a:spcPct val="130000"/>
              </a:lnSpc>
              <a:buNone/>
            </a:pPr>
            <a:r>
              <a:rPr lang="en-US" sz="1100" dirty="0">
                <a:solidFill>
                  <a:srgbClr val="5B6472"/>
                </a:solidFill>
                <a:latin typeface="Calibri" pitchFamily="34" charset="0"/>
                <a:ea typeface="Calibri" pitchFamily="34" charset="-122"/>
                <a:cs typeface="Calibri" pitchFamily="34" charset="-120"/>
              </a:rPr>
              <a:t>Model ML klasik ringan: SVM Linear dibandingkan Random Forest, inferensi &lt; 10 ms di CPU biasa.</a:t>
            </a:r>
            <a:endParaRPr lang="en-US" sz="1100" dirty="0"/>
          </a:p>
        </p:txBody>
      </p:sp>
      <p:sp>
        <p:nvSpPr>
          <p:cNvPr id="15" name="Text 13"/>
          <p:cNvSpPr/>
          <p:nvPr/>
        </p:nvSpPr>
        <p:spPr>
          <a:xfrm>
            <a:off x="7909560" y="3977640"/>
            <a:ext cx="3657600" cy="868680"/>
          </a:xfrm>
          <a:prstGeom prst="rect">
            <a:avLst/>
          </a:prstGeom>
          <a:noFill/>
          <a:ln/>
        </p:spPr>
        <p:txBody>
          <a:bodyPr wrap="square" rtlCol="0" anchor="ctr"/>
          <a:lstStyle/>
          <a:p>
            <a:pPr marL="0" indent="0">
              <a:lnSpc>
                <a:spcPct val="130000"/>
              </a:lnSpc>
              <a:buNone/>
            </a:pPr>
            <a:r>
              <a:rPr lang="en-US" sz="1100" dirty="0">
                <a:solidFill>
                  <a:srgbClr val="5B6472"/>
                </a:solidFill>
                <a:latin typeface="Calibri" pitchFamily="34" charset="0"/>
                <a:ea typeface="Calibri" pitchFamily="34" charset="-122"/>
                <a:cs typeface="Calibri" pitchFamily="34" charset="-120"/>
              </a:rPr>
              <a:t>Explainable AI: SHAP untuk menganalisis kontribusi tiap titik jari terhadap prediksi gestur.</a:t>
            </a:r>
            <a:endParaRPr lang="en-US" sz="1100" dirty="0"/>
          </a:p>
        </p:txBody>
      </p:sp>
      <p:sp>
        <p:nvSpPr>
          <p:cNvPr id="16" name="Text 14"/>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02. RUMUSAN &amp; TUJUAN</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Rumusan Masalah dan Tujuan Penelitian</a:t>
            </a:r>
            <a:endParaRPr lang="en-US" sz="2500" dirty="0"/>
          </a:p>
        </p:txBody>
      </p:sp>
      <p:sp>
        <p:nvSpPr>
          <p:cNvPr id="4" name="Text 2"/>
          <p:cNvSpPr/>
          <p:nvPr/>
        </p:nvSpPr>
        <p:spPr>
          <a:xfrm>
            <a:off x="822960" y="1691640"/>
            <a:ext cx="5212080" cy="274320"/>
          </a:xfrm>
          <a:prstGeom prst="rect">
            <a:avLst/>
          </a:prstGeom>
          <a:noFill/>
          <a:ln/>
        </p:spPr>
        <p:txBody>
          <a:bodyPr wrap="square" rtlCol="0" anchor="ctr"/>
          <a:lstStyle/>
          <a:p>
            <a:pPr marL="0" indent="0">
              <a:buNone/>
            </a:pPr>
            <a:r>
              <a:rPr lang="en-US" sz="1100" b="1" kern="0" spc="150" dirty="0">
                <a:solidFill>
                  <a:srgbClr val="2E6E63"/>
                </a:solidFill>
                <a:latin typeface="Calibri" pitchFamily="34" charset="0"/>
                <a:ea typeface="Calibri" pitchFamily="34" charset="-122"/>
                <a:cs typeface="Calibri" pitchFamily="34" charset="-120"/>
              </a:rPr>
              <a:t>RUMUSAN MASALAH</a:t>
            </a:r>
            <a:endParaRPr lang="en-US" sz="1100" dirty="0"/>
          </a:p>
        </p:txBody>
      </p:sp>
      <p:sp>
        <p:nvSpPr>
          <p:cNvPr id="5" name="Text 3"/>
          <p:cNvSpPr/>
          <p:nvPr/>
        </p:nvSpPr>
        <p:spPr>
          <a:xfrm>
            <a:off x="822960" y="2057400"/>
            <a:ext cx="320040" cy="68580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1.</a:t>
            </a:r>
            <a:endParaRPr lang="en-US" sz="1250" dirty="0"/>
          </a:p>
        </p:txBody>
      </p:sp>
      <p:sp>
        <p:nvSpPr>
          <p:cNvPr id="6" name="Text 4"/>
          <p:cNvSpPr/>
          <p:nvPr/>
        </p:nvSpPr>
        <p:spPr>
          <a:xfrm>
            <a:off x="1188720" y="2057400"/>
            <a:ext cx="4846320" cy="6858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Bagaimana efektivitas SVM Linear dibanding Random Forest dalam mengklasifikasikan 18 kelas gestur tangan?</a:t>
            </a:r>
            <a:endParaRPr lang="en-US" sz="1150" dirty="0"/>
          </a:p>
        </p:txBody>
      </p:sp>
      <p:sp>
        <p:nvSpPr>
          <p:cNvPr id="7" name="Text 5"/>
          <p:cNvSpPr/>
          <p:nvPr/>
        </p:nvSpPr>
        <p:spPr>
          <a:xfrm>
            <a:off x="822960" y="2953512"/>
            <a:ext cx="320040" cy="68580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2.</a:t>
            </a:r>
            <a:endParaRPr lang="en-US" sz="1250" dirty="0"/>
          </a:p>
        </p:txBody>
      </p:sp>
      <p:sp>
        <p:nvSpPr>
          <p:cNvPr id="8" name="Text 6"/>
          <p:cNvSpPr/>
          <p:nvPr/>
        </p:nvSpPr>
        <p:spPr>
          <a:xfrm>
            <a:off x="1188720" y="2953512"/>
            <a:ext cx="4846320" cy="6858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Bagaimana menginterpretasikan keputusan model black-box menggunakan SHAP (XAI)?</a:t>
            </a:r>
            <a:endParaRPr lang="en-US" sz="1150" dirty="0"/>
          </a:p>
        </p:txBody>
      </p:sp>
      <p:sp>
        <p:nvSpPr>
          <p:cNvPr id="9" name="Text 7"/>
          <p:cNvSpPr/>
          <p:nvPr/>
        </p:nvSpPr>
        <p:spPr>
          <a:xfrm>
            <a:off x="822960" y="3849624"/>
            <a:ext cx="320040" cy="68580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3.</a:t>
            </a:r>
            <a:endParaRPr lang="en-US" sz="1250" dirty="0"/>
          </a:p>
        </p:txBody>
      </p:sp>
      <p:sp>
        <p:nvSpPr>
          <p:cNvPr id="10" name="Text 8"/>
          <p:cNvSpPr/>
          <p:nvPr/>
        </p:nvSpPr>
        <p:spPr>
          <a:xfrm>
            <a:off x="1188720" y="3849624"/>
            <a:ext cx="4846320" cy="6858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Bagaimana mengimplementasikan model terbaik ke aplikasi web interaktif smart home secara real-time?</a:t>
            </a:r>
            <a:endParaRPr lang="en-US" sz="1150" dirty="0"/>
          </a:p>
        </p:txBody>
      </p:sp>
      <p:sp>
        <p:nvSpPr>
          <p:cNvPr id="11" name="Shape 9"/>
          <p:cNvSpPr/>
          <p:nvPr/>
        </p:nvSpPr>
        <p:spPr>
          <a:xfrm>
            <a:off x="6263640" y="1691640"/>
            <a:ext cx="0" cy="3108960"/>
          </a:xfrm>
          <a:prstGeom prst="line">
            <a:avLst/>
          </a:prstGeom>
          <a:noFill/>
          <a:ln w="12700">
            <a:solidFill>
              <a:srgbClr val="D9DEE6"/>
            </a:solidFill>
            <a:prstDash val="solid"/>
          </a:ln>
        </p:spPr>
      </p:sp>
      <p:sp>
        <p:nvSpPr>
          <p:cNvPr id="12" name="Text 10"/>
          <p:cNvSpPr/>
          <p:nvPr/>
        </p:nvSpPr>
        <p:spPr>
          <a:xfrm>
            <a:off x="6537960" y="1691640"/>
            <a:ext cx="4846320" cy="274320"/>
          </a:xfrm>
          <a:prstGeom prst="rect">
            <a:avLst/>
          </a:prstGeom>
          <a:noFill/>
          <a:ln/>
        </p:spPr>
        <p:txBody>
          <a:bodyPr wrap="square" rtlCol="0" anchor="ctr"/>
          <a:lstStyle/>
          <a:p>
            <a:pPr marL="0" indent="0">
              <a:buNone/>
            </a:pPr>
            <a:r>
              <a:rPr lang="en-US" sz="1100" b="1" kern="0" spc="150" dirty="0">
                <a:solidFill>
                  <a:srgbClr val="2E6E63"/>
                </a:solidFill>
                <a:latin typeface="Calibri" pitchFamily="34" charset="0"/>
                <a:ea typeface="Calibri" pitchFamily="34" charset="-122"/>
                <a:cs typeface="Calibri" pitchFamily="34" charset="-120"/>
              </a:rPr>
              <a:t>TUJUAN PENELITIAN</a:t>
            </a:r>
            <a:endParaRPr lang="en-US" sz="1100" dirty="0"/>
          </a:p>
        </p:txBody>
      </p:sp>
      <p:sp>
        <p:nvSpPr>
          <p:cNvPr id="13" name="Text 11"/>
          <p:cNvSpPr/>
          <p:nvPr/>
        </p:nvSpPr>
        <p:spPr>
          <a:xfrm>
            <a:off x="6537960" y="2057400"/>
            <a:ext cx="320040" cy="68580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1.</a:t>
            </a:r>
            <a:endParaRPr lang="en-US" sz="1250" dirty="0"/>
          </a:p>
        </p:txBody>
      </p:sp>
      <p:sp>
        <p:nvSpPr>
          <p:cNvPr id="14" name="Text 12"/>
          <p:cNvSpPr/>
          <p:nvPr/>
        </p:nvSpPr>
        <p:spPr>
          <a:xfrm>
            <a:off x="6903720" y="2057400"/>
            <a:ext cx="4480560" cy="6858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Membangun model machine learning dengan akurasi uji minimal 85%.</a:t>
            </a:r>
            <a:endParaRPr lang="en-US" sz="1150" dirty="0"/>
          </a:p>
        </p:txBody>
      </p:sp>
      <p:sp>
        <p:nvSpPr>
          <p:cNvPr id="15" name="Text 13"/>
          <p:cNvSpPr/>
          <p:nvPr/>
        </p:nvSpPr>
        <p:spPr>
          <a:xfrm>
            <a:off x="6537960" y="2953512"/>
            <a:ext cx="320040" cy="68580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2.</a:t>
            </a:r>
            <a:endParaRPr lang="en-US" sz="1250" dirty="0"/>
          </a:p>
        </p:txBody>
      </p:sp>
      <p:sp>
        <p:nvSpPr>
          <p:cNvPr id="16" name="Text 14"/>
          <p:cNvSpPr/>
          <p:nvPr/>
        </p:nvSpPr>
        <p:spPr>
          <a:xfrm>
            <a:off x="6903720" y="2953512"/>
            <a:ext cx="4480560" cy="6858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Menganalisis signifikansi koordinat sendi jari terhadap gestur melalui visualisasi SHAP.</a:t>
            </a:r>
            <a:endParaRPr lang="en-US" sz="1150" dirty="0"/>
          </a:p>
        </p:txBody>
      </p:sp>
      <p:sp>
        <p:nvSpPr>
          <p:cNvPr id="17" name="Text 15"/>
          <p:cNvSpPr/>
          <p:nvPr/>
        </p:nvSpPr>
        <p:spPr>
          <a:xfrm>
            <a:off x="6537960" y="3849624"/>
            <a:ext cx="320040" cy="68580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6903720" y="3849624"/>
            <a:ext cx="4480560" cy="6858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Menyebarkan model terbaik ke aplikasi Streamlit dan Flask untuk simulasi saklar 3 ruangan.</a:t>
            </a:r>
            <a:endParaRPr lang="en-US" sz="1150" dirty="0"/>
          </a:p>
        </p:txBody>
      </p:sp>
      <p:sp>
        <p:nvSpPr>
          <p:cNvPr id="19" name="Shape 17"/>
          <p:cNvSpPr/>
          <p:nvPr/>
        </p:nvSpPr>
        <p:spPr>
          <a:xfrm>
            <a:off x="822960" y="4892040"/>
            <a:ext cx="10515600" cy="0"/>
          </a:xfrm>
          <a:prstGeom prst="line">
            <a:avLst/>
          </a:prstGeom>
          <a:noFill/>
          <a:ln w="12700">
            <a:solidFill>
              <a:srgbClr val="D9DEE6"/>
            </a:solidFill>
            <a:prstDash val="solid"/>
          </a:ln>
        </p:spPr>
      </p:sp>
      <p:sp>
        <p:nvSpPr>
          <p:cNvPr id="20" name="Text 18"/>
          <p:cNvSpPr/>
          <p:nvPr/>
        </p:nvSpPr>
        <p:spPr>
          <a:xfrm>
            <a:off x="822960" y="5074920"/>
            <a:ext cx="5486400" cy="274320"/>
          </a:xfrm>
          <a:prstGeom prst="rect">
            <a:avLst/>
          </a:prstGeom>
          <a:noFill/>
          <a:ln/>
        </p:spPr>
        <p:txBody>
          <a:bodyPr wrap="square" rtlCol="0" anchor="ctr"/>
          <a:lstStyle/>
          <a:p>
            <a:pPr marL="0" indent="0">
              <a:buNone/>
            </a:pPr>
            <a:r>
              <a:rPr lang="en-US" sz="1100" b="1" kern="0" spc="150" dirty="0">
                <a:solidFill>
                  <a:srgbClr val="2E6E63"/>
                </a:solidFill>
                <a:latin typeface="Calibri" pitchFamily="34" charset="0"/>
                <a:ea typeface="Calibri" pitchFamily="34" charset="-122"/>
                <a:cs typeface="Calibri" pitchFamily="34" charset="-120"/>
              </a:rPr>
              <a:t>METRIK KESUKSESAN PROYEK</a:t>
            </a:r>
            <a:endParaRPr lang="en-US" sz="1100" dirty="0"/>
          </a:p>
        </p:txBody>
      </p:sp>
      <p:sp>
        <p:nvSpPr>
          <p:cNvPr id="21" name="Text 19"/>
          <p:cNvSpPr/>
          <p:nvPr/>
        </p:nvSpPr>
        <p:spPr>
          <a:xfrm>
            <a:off x="822960" y="5440680"/>
            <a:ext cx="3291840" cy="457200"/>
          </a:xfrm>
          <a:prstGeom prst="rect">
            <a:avLst/>
          </a:prstGeom>
          <a:noFill/>
          <a:ln/>
        </p:spPr>
        <p:txBody>
          <a:bodyPr wrap="square" rtlCol="0" anchor="ctr"/>
          <a:lstStyle/>
          <a:p>
            <a:pPr marL="0" indent="0">
              <a:buNone/>
            </a:pPr>
            <a:r>
              <a:rPr lang="en-US" sz="2200" b="1" dirty="0">
                <a:solidFill>
                  <a:srgbClr val="1E2530"/>
                </a:solidFill>
                <a:latin typeface="Cambria" pitchFamily="34" charset="0"/>
                <a:ea typeface="Cambria" pitchFamily="34" charset="-122"/>
                <a:cs typeface="Cambria" pitchFamily="34" charset="-120"/>
              </a:rPr>
              <a:t>≥ 90%</a:t>
            </a:r>
            <a:endParaRPr lang="en-US" sz="2200" dirty="0"/>
          </a:p>
        </p:txBody>
      </p:sp>
      <p:sp>
        <p:nvSpPr>
          <p:cNvPr id="22" name="Text 20"/>
          <p:cNvSpPr/>
          <p:nvPr/>
        </p:nvSpPr>
        <p:spPr>
          <a:xfrm>
            <a:off x="822960" y="5943600"/>
            <a:ext cx="3291840" cy="365760"/>
          </a:xfrm>
          <a:prstGeom prst="rect">
            <a:avLst/>
          </a:prstGeom>
          <a:noFill/>
          <a:ln/>
        </p:spPr>
        <p:txBody>
          <a:bodyPr wrap="square" rtlCol="0" anchor="ctr"/>
          <a:lstStyle/>
          <a:p>
            <a:pPr marL="0" indent="0">
              <a:buNone/>
            </a:pPr>
            <a:r>
              <a:rPr lang="en-US" sz="1050" dirty="0">
                <a:solidFill>
                  <a:srgbClr val="5B6472"/>
                </a:solidFill>
                <a:latin typeface="Calibri" pitchFamily="34" charset="0"/>
                <a:ea typeface="Calibri" pitchFamily="34" charset="-122"/>
                <a:cs typeface="Calibri" pitchFamily="34" charset="-120"/>
              </a:rPr>
              <a:t>Akurasi klasifikasi pada data uji</a:t>
            </a:r>
            <a:endParaRPr lang="en-US" sz="1050" dirty="0"/>
          </a:p>
        </p:txBody>
      </p:sp>
      <p:sp>
        <p:nvSpPr>
          <p:cNvPr id="23" name="Text 21"/>
          <p:cNvSpPr/>
          <p:nvPr/>
        </p:nvSpPr>
        <p:spPr>
          <a:xfrm>
            <a:off x="4389120" y="5440680"/>
            <a:ext cx="3291840" cy="457200"/>
          </a:xfrm>
          <a:prstGeom prst="rect">
            <a:avLst/>
          </a:prstGeom>
          <a:noFill/>
          <a:ln/>
        </p:spPr>
        <p:txBody>
          <a:bodyPr wrap="square" rtlCol="0" anchor="ctr"/>
          <a:lstStyle/>
          <a:p>
            <a:pPr marL="0" indent="0">
              <a:buNone/>
            </a:pPr>
            <a:r>
              <a:rPr lang="en-US" sz="2200" b="1" dirty="0">
                <a:solidFill>
                  <a:srgbClr val="1E2530"/>
                </a:solidFill>
                <a:latin typeface="Cambria" pitchFamily="34" charset="0"/>
                <a:ea typeface="Cambria" pitchFamily="34" charset="-122"/>
                <a:cs typeface="Cambria" pitchFamily="34" charset="-120"/>
              </a:rPr>
              <a:t>≤ 30 ms</a:t>
            </a:r>
            <a:endParaRPr lang="en-US" sz="2200" dirty="0"/>
          </a:p>
        </p:txBody>
      </p:sp>
      <p:sp>
        <p:nvSpPr>
          <p:cNvPr id="24" name="Text 22"/>
          <p:cNvSpPr/>
          <p:nvPr/>
        </p:nvSpPr>
        <p:spPr>
          <a:xfrm>
            <a:off x="4389120" y="5943600"/>
            <a:ext cx="3291840" cy="365760"/>
          </a:xfrm>
          <a:prstGeom prst="rect">
            <a:avLst/>
          </a:prstGeom>
          <a:noFill/>
          <a:ln/>
        </p:spPr>
        <p:txBody>
          <a:bodyPr wrap="square" rtlCol="0" anchor="ctr"/>
          <a:lstStyle/>
          <a:p>
            <a:pPr marL="0" indent="0">
              <a:buNone/>
            </a:pPr>
            <a:r>
              <a:rPr lang="en-US" sz="1050" dirty="0">
                <a:solidFill>
                  <a:srgbClr val="5B6472"/>
                </a:solidFill>
                <a:latin typeface="Calibri" pitchFamily="34" charset="0"/>
                <a:ea typeface="Calibri" pitchFamily="34" charset="-122"/>
                <a:cs typeface="Calibri" pitchFamily="34" charset="-120"/>
              </a:rPr>
              <a:t>Latensi inferensi per frame</a:t>
            </a:r>
            <a:endParaRPr lang="en-US" sz="1050" dirty="0"/>
          </a:p>
        </p:txBody>
      </p:sp>
      <p:sp>
        <p:nvSpPr>
          <p:cNvPr id="25" name="Text 23"/>
          <p:cNvSpPr/>
          <p:nvPr/>
        </p:nvSpPr>
        <p:spPr>
          <a:xfrm>
            <a:off x="7955280" y="5440680"/>
            <a:ext cx="3291840" cy="457200"/>
          </a:xfrm>
          <a:prstGeom prst="rect">
            <a:avLst/>
          </a:prstGeom>
          <a:noFill/>
          <a:ln/>
        </p:spPr>
        <p:txBody>
          <a:bodyPr wrap="square" rtlCol="0" anchor="ctr"/>
          <a:lstStyle/>
          <a:p>
            <a:pPr marL="0" indent="0">
              <a:buNone/>
            </a:pPr>
            <a:r>
              <a:rPr lang="en-US" sz="2200" b="1" dirty="0">
                <a:solidFill>
                  <a:srgbClr val="1E2530"/>
                </a:solidFill>
                <a:latin typeface="Cambria" pitchFamily="34" charset="0"/>
                <a:ea typeface="Cambria" pitchFamily="34" charset="-122"/>
                <a:cs typeface="Cambria" pitchFamily="34" charset="-120"/>
              </a:rPr>
              <a:t>≥ 3</a:t>
            </a:r>
            <a:endParaRPr lang="en-US" sz="2200" dirty="0"/>
          </a:p>
        </p:txBody>
      </p:sp>
      <p:sp>
        <p:nvSpPr>
          <p:cNvPr id="26" name="Text 24"/>
          <p:cNvSpPr/>
          <p:nvPr/>
        </p:nvSpPr>
        <p:spPr>
          <a:xfrm>
            <a:off x="7955280" y="5943600"/>
            <a:ext cx="3291840" cy="365760"/>
          </a:xfrm>
          <a:prstGeom prst="rect">
            <a:avLst/>
          </a:prstGeom>
          <a:noFill/>
          <a:ln/>
        </p:spPr>
        <p:txBody>
          <a:bodyPr wrap="square" rtlCol="0" anchor="ctr"/>
          <a:lstStyle/>
          <a:p>
            <a:pPr marL="0" indent="0">
              <a:buNone/>
            </a:pPr>
            <a:r>
              <a:rPr lang="en-US" sz="1050" dirty="0">
                <a:solidFill>
                  <a:srgbClr val="5B6472"/>
                </a:solidFill>
                <a:latin typeface="Calibri" pitchFamily="34" charset="0"/>
                <a:ea typeface="Calibri" pitchFamily="34" charset="-122"/>
                <a:cs typeface="Calibri" pitchFamily="34" charset="-120"/>
              </a:rPr>
              <a:t>Landmark krusial yang teridentifikasi</a:t>
            </a:r>
            <a:endParaRPr lang="en-US" sz="1050" dirty="0"/>
          </a:p>
        </p:txBody>
      </p:sp>
      <p:sp>
        <p:nvSpPr>
          <p:cNvPr id="27" name="Text 25"/>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03. METODOLOGI</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Alur Kerja Penelitian</a:t>
            </a:r>
            <a:endParaRPr lang="en-US" sz="2500" dirty="0"/>
          </a:p>
        </p:txBody>
      </p:sp>
      <p:sp>
        <p:nvSpPr>
          <p:cNvPr id="4" name="Shape 2"/>
          <p:cNvSpPr/>
          <p:nvPr/>
        </p:nvSpPr>
        <p:spPr>
          <a:xfrm>
            <a:off x="822960" y="1965960"/>
            <a:ext cx="1298448" cy="1143000"/>
          </a:xfrm>
          <a:prstGeom prst="rect">
            <a:avLst/>
          </a:prstGeom>
          <a:solidFill>
            <a:srgbClr val="13223B"/>
          </a:solidFill>
          <a:ln/>
        </p:spPr>
      </p:sp>
      <p:sp>
        <p:nvSpPr>
          <p:cNvPr id="5" name="Text 3"/>
          <p:cNvSpPr/>
          <p:nvPr/>
        </p:nvSpPr>
        <p:spPr>
          <a:xfrm>
            <a:off x="859536"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Kamera</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Video Input</a:t>
            </a:r>
            <a:endParaRPr lang="en-US" sz="950" dirty="0"/>
          </a:p>
        </p:txBody>
      </p:sp>
      <p:sp>
        <p:nvSpPr>
          <p:cNvPr id="6" name="Shape 4"/>
          <p:cNvSpPr/>
          <p:nvPr/>
        </p:nvSpPr>
        <p:spPr>
          <a:xfrm>
            <a:off x="2121408" y="2537460"/>
            <a:ext cx="22207" cy="0"/>
          </a:xfrm>
          <a:prstGeom prst="line">
            <a:avLst/>
          </a:prstGeom>
          <a:noFill/>
          <a:ln w="15875">
            <a:solidFill>
              <a:srgbClr val="AAB2BE"/>
            </a:solidFill>
            <a:prstDash val="solid"/>
            <a:tailEnd type="triangle"/>
          </a:ln>
        </p:spPr>
      </p:sp>
      <p:sp>
        <p:nvSpPr>
          <p:cNvPr id="7" name="Shape 5"/>
          <p:cNvSpPr/>
          <p:nvPr/>
        </p:nvSpPr>
        <p:spPr>
          <a:xfrm>
            <a:off x="2143615" y="1965960"/>
            <a:ext cx="1298448" cy="1143000"/>
          </a:xfrm>
          <a:prstGeom prst="rect">
            <a:avLst/>
          </a:prstGeom>
          <a:solidFill>
            <a:srgbClr val="13223B"/>
          </a:solidFill>
          <a:ln/>
        </p:spPr>
      </p:sp>
      <p:sp>
        <p:nvSpPr>
          <p:cNvPr id="8" name="Text 6"/>
          <p:cNvSpPr/>
          <p:nvPr/>
        </p:nvSpPr>
        <p:spPr>
          <a:xfrm>
            <a:off x="2180191"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Ekstraksi Landmark</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(MediaPipe)</a:t>
            </a:r>
            <a:endParaRPr lang="en-US" sz="950" dirty="0"/>
          </a:p>
        </p:txBody>
      </p:sp>
      <p:sp>
        <p:nvSpPr>
          <p:cNvPr id="9" name="Shape 7"/>
          <p:cNvSpPr/>
          <p:nvPr/>
        </p:nvSpPr>
        <p:spPr>
          <a:xfrm>
            <a:off x="3442063" y="2537460"/>
            <a:ext cx="22207" cy="0"/>
          </a:xfrm>
          <a:prstGeom prst="line">
            <a:avLst/>
          </a:prstGeom>
          <a:noFill/>
          <a:ln w="15875">
            <a:solidFill>
              <a:srgbClr val="AAB2BE"/>
            </a:solidFill>
            <a:prstDash val="solid"/>
            <a:tailEnd type="triangle"/>
          </a:ln>
        </p:spPr>
      </p:sp>
      <p:sp>
        <p:nvSpPr>
          <p:cNvPr id="10" name="Shape 8"/>
          <p:cNvSpPr/>
          <p:nvPr/>
        </p:nvSpPr>
        <p:spPr>
          <a:xfrm>
            <a:off x="3464270" y="1965960"/>
            <a:ext cx="1298448" cy="1143000"/>
          </a:xfrm>
          <a:prstGeom prst="rect">
            <a:avLst/>
          </a:prstGeom>
          <a:solidFill>
            <a:srgbClr val="13223B"/>
          </a:solidFill>
          <a:ln/>
        </p:spPr>
      </p:sp>
      <p:sp>
        <p:nvSpPr>
          <p:cNvPr id="11" name="Text 9"/>
          <p:cNvSpPr/>
          <p:nvPr/>
        </p:nvSpPr>
        <p:spPr>
          <a:xfrm>
            <a:off x="3500846"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Dataset Tabular</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63 Fitur</a:t>
            </a:r>
            <a:endParaRPr lang="en-US" sz="950" dirty="0"/>
          </a:p>
        </p:txBody>
      </p:sp>
      <p:sp>
        <p:nvSpPr>
          <p:cNvPr id="12" name="Shape 10"/>
          <p:cNvSpPr/>
          <p:nvPr/>
        </p:nvSpPr>
        <p:spPr>
          <a:xfrm>
            <a:off x="4762718" y="2537460"/>
            <a:ext cx="22207" cy="0"/>
          </a:xfrm>
          <a:prstGeom prst="line">
            <a:avLst/>
          </a:prstGeom>
          <a:noFill/>
          <a:ln w="15875">
            <a:solidFill>
              <a:srgbClr val="AAB2BE"/>
            </a:solidFill>
            <a:prstDash val="solid"/>
            <a:tailEnd type="triangle"/>
          </a:ln>
        </p:spPr>
      </p:sp>
      <p:sp>
        <p:nvSpPr>
          <p:cNvPr id="13" name="Shape 11"/>
          <p:cNvSpPr/>
          <p:nvPr/>
        </p:nvSpPr>
        <p:spPr>
          <a:xfrm>
            <a:off x="4784925" y="1965960"/>
            <a:ext cx="1298448" cy="1143000"/>
          </a:xfrm>
          <a:prstGeom prst="rect">
            <a:avLst/>
          </a:prstGeom>
          <a:solidFill>
            <a:srgbClr val="13223B"/>
          </a:solidFill>
          <a:ln/>
        </p:spPr>
      </p:sp>
      <p:sp>
        <p:nvSpPr>
          <p:cNvPr id="14" name="Text 12"/>
          <p:cNvSpPr/>
          <p:nvPr/>
        </p:nvSpPr>
        <p:spPr>
          <a:xfrm>
            <a:off x="4821501"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Preprocessing &amp;</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Label Encoding</a:t>
            </a:r>
            <a:endParaRPr lang="en-US" sz="950" dirty="0"/>
          </a:p>
        </p:txBody>
      </p:sp>
      <p:sp>
        <p:nvSpPr>
          <p:cNvPr id="15" name="Shape 13"/>
          <p:cNvSpPr/>
          <p:nvPr/>
        </p:nvSpPr>
        <p:spPr>
          <a:xfrm>
            <a:off x="6083373" y="2537460"/>
            <a:ext cx="22207" cy="0"/>
          </a:xfrm>
          <a:prstGeom prst="line">
            <a:avLst/>
          </a:prstGeom>
          <a:noFill/>
          <a:ln w="15875">
            <a:solidFill>
              <a:srgbClr val="AAB2BE"/>
            </a:solidFill>
            <a:prstDash val="solid"/>
            <a:tailEnd type="triangle"/>
          </a:ln>
        </p:spPr>
      </p:sp>
      <p:sp>
        <p:nvSpPr>
          <p:cNvPr id="16" name="Shape 14"/>
          <p:cNvSpPr/>
          <p:nvPr/>
        </p:nvSpPr>
        <p:spPr>
          <a:xfrm>
            <a:off x="6105579" y="1965960"/>
            <a:ext cx="1298448" cy="1143000"/>
          </a:xfrm>
          <a:prstGeom prst="rect">
            <a:avLst/>
          </a:prstGeom>
          <a:solidFill>
            <a:srgbClr val="13223B"/>
          </a:solidFill>
          <a:ln/>
        </p:spPr>
      </p:sp>
      <p:sp>
        <p:nvSpPr>
          <p:cNvPr id="17" name="Text 15"/>
          <p:cNvSpPr/>
          <p:nvPr/>
        </p:nvSpPr>
        <p:spPr>
          <a:xfrm>
            <a:off x="6142155"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Split Data</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80 : 20</a:t>
            </a:r>
            <a:endParaRPr lang="en-US" sz="950" dirty="0"/>
          </a:p>
        </p:txBody>
      </p:sp>
      <p:sp>
        <p:nvSpPr>
          <p:cNvPr id="18" name="Shape 16"/>
          <p:cNvSpPr/>
          <p:nvPr/>
        </p:nvSpPr>
        <p:spPr>
          <a:xfrm>
            <a:off x="7404027" y="2537460"/>
            <a:ext cx="22207" cy="0"/>
          </a:xfrm>
          <a:prstGeom prst="line">
            <a:avLst/>
          </a:prstGeom>
          <a:noFill/>
          <a:ln w="15875">
            <a:solidFill>
              <a:srgbClr val="AAB2BE"/>
            </a:solidFill>
            <a:prstDash val="solid"/>
            <a:tailEnd type="triangle"/>
          </a:ln>
        </p:spPr>
      </p:sp>
      <p:sp>
        <p:nvSpPr>
          <p:cNvPr id="19" name="Shape 17"/>
          <p:cNvSpPr/>
          <p:nvPr/>
        </p:nvSpPr>
        <p:spPr>
          <a:xfrm>
            <a:off x="7426234" y="1965960"/>
            <a:ext cx="1298448" cy="1143000"/>
          </a:xfrm>
          <a:prstGeom prst="rect">
            <a:avLst/>
          </a:prstGeom>
          <a:solidFill>
            <a:srgbClr val="13223B"/>
          </a:solidFill>
          <a:ln/>
        </p:spPr>
      </p:sp>
      <p:sp>
        <p:nvSpPr>
          <p:cNvPr id="20" name="Text 18"/>
          <p:cNvSpPr/>
          <p:nvPr/>
        </p:nvSpPr>
        <p:spPr>
          <a:xfrm>
            <a:off x="7462810"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Training</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RF &amp; SVM</a:t>
            </a:r>
            <a:endParaRPr lang="en-US" sz="950" dirty="0"/>
          </a:p>
        </p:txBody>
      </p:sp>
      <p:sp>
        <p:nvSpPr>
          <p:cNvPr id="21" name="Shape 19"/>
          <p:cNvSpPr/>
          <p:nvPr/>
        </p:nvSpPr>
        <p:spPr>
          <a:xfrm>
            <a:off x="8724682" y="2537460"/>
            <a:ext cx="22207" cy="0"/>
          </a:xfrm>
          <a:prstGeom prst="line">
            <a:avLst/>
          </a:prstGeom>
          <a:noFill/>
          <a:ln w="15875">
            <a:solidFill>
              <a:srgbClr val="AAB2BE"/>
            </a:solidFill>
            <a:prstDash val="solid"/>
            <a:tailEnd type="triangle"/>
          </a:ln>
        </p:spPr>
      </p:sp>
      <p:sp>
        <p:nvSpPr>
          <p:cNvPr id="22" name="Shape 20"/>
          <p:cNvSpPr/>
          <p:nvPr/>
        </p:nvSpPr>
        <p:spPr>
          <a:xfrm>
            <a:off x="8746889" y="1965960"/>
            <a:ext cx="1298448" cy="1143000"/>
          </a:xfrm>
          <a:prstGeom prst="rect">
            <a:avLst/>
          </a:prstGeom>
          <a:solidFill>
            <a:srgbClr val="13223B"/>
          </a:solidFill>
          <a:ln/>
        </p:spPr>
      </p:sp>
      <p:sp>
        <p:nvSpPr>
          <p:cNvPr id="23" name="Text 21"/>
          <p:cNvSpPr/>
          <p:nvPr/>
        </p:nvSpPr>
        <p:spPr>
          <a:xfrm>
            <a:off x="8783465"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Evaluasi &amp;</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Interpretasi SHAP</a:t>
            </a:r>
            <a:endParaRPr lang="en-US" sz="950" dirty="0"/>
          </a:p>
        </p:txBody>
      </p:sp>
      <p:sp>
        <p:nvSpPr>
          <p:cNvPr id="24" name="Shape 22"/>
          <p:cNvSpPr/>
          <p:nvPr/>
        </p:nvSpPr>
        <p:spPr>
          <a:xfrm>
            <a:off x="10045337" y="2537460"/>
            <a:ext cx="22207" cy="0"/>
          </a:xfrm>
          <a:prstGeom prst="line">
            <a:avLst/>
          </a:prstGeom>
          <a:noFill/>
          <a:ln w="15875">
            <a:solidFill>
              <a:srgbClr val="AAB2BE"/>
            </a:solidFill>
            <a:prstDash val="solid"/>
            <a:tailEnd type="triangle"/>
          </a:ln>
        </p:spPr>
      </p:sp>
      <p:sp>
        <p:nvSpPr>
          <p:cNvPr id="25" name="Shape 23"/>
          <p:cNvSpPr/>
          <p:nvPr/>
        </p:nvSpPr>
        <p:spPr>
          <a:xfrm>
            <a:off x="10067544" y="1965960"/>
            <a:ext cx="1298448" cy="1143000"/>
          </a:xfrm>
          <a:prstGeom prst="rect">
            <a:avLst/>
          </a:prstGeom>
          <a:solidFill>
            <a:srgbClr val="C9821F"/>
          </a:solidFill>
          <a:ln/>
        </p:spPr>
      </p:sp>
      <p:sp>
        <p:nvSpPr>
          <p:cNvPr id="26" name="Text 24"/>
          <p:cNvSpPr/>
          <p:nvPr/>
        </p:nvSpPr>
        <p:spPr>
          <a:xfrm>
            <a:off x="10104120" y="1965960"/>
            <a:ext cx="1225296" cy="1143000"/>
          </a:xfrm>
          <a:prstGeom prst="rect">
            <a:avLst/>
          </a:prstGeom>
          <a:noFill/>
          <a:ln/>
        </p:spPr>
        <p:txBody>
          <a:bodyPr wrap="square" rtlCol="0" anchor="ctr"/>
          <a:lstStyle/>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Deployment</a:t>
            </a:r>
            <a:endParaRPr lang="en-US" sz="950" dirty="0"/>
          </a:p>
          <a:p>
            <a:pPr marL="0" indent="0" algn="ctr">
              <a:lnSpc>
                <a:spcPct val="105000"/>
              </a:lnSpc>
              <a:buNone/>
            </a:pPr>
            <a:r>
              <a:rPr lang="en-US" sz="950" b="1" dirty="0">
                <a:solidFill>
                  <a:srgbClr val="FFFFFF"/>
                </a:solidFill>
                <a:latin typeface="Calibri" pitchFamily="34" charset="0"/>
                <a:ea typeface="Calibri" pitchFamily="34" charset="-122"/>
                <a:cs typeface="Calibri" pitchFamily="34" charset="-120"/>
              </a:rPr>
              <a:t>Streamlit / Flask</a:t>
            </a:r>
            <a:endParaRPr lang="en-US" sz="950" dirty="0"/>
          </a:p>
        </p:txBody>
      </p:sp>
      <p:sp>
        <p:nvSpPr>
          <p:cNvPr id="27" name="Shape 25"/>
          <p:cNvSpPr/>
          <p:nvPr/>
        </p:nvSpPr>
        <p:spPr>
          <a:xfrm>
            <a:off x="822960" y="3566160"/>
            <a:ext cx="10543032" cy="0"/>
          </a:xfrm>
          <a:prstGeom prst="line">
            <a:avLst/>
          </a:prstGeom>
          <a:noFill/>
          <a:ln w="12700">
            <a:solidFill>
              <a:srgbClr val="D9DEE6"/>
            </a:solidFill>
            <a:prstDash val="solid"/>
          </a:ln>
        </p:spPr>
      </p:sp>
      <p:sp>
        <p:nvSpPr>
          <p:cNvPr id="28" name="Text 26"/>
          <p:cNvSpPr/>
          <p:nvPr/>
        </p:nvSpPr>
        <p:spPr>
          <a:xfrm>
            <a:off x="822960" y="3840480"/>
            <a:ext cx="4937760" cy="274320"/>
          </a:xfrm>
          <a:prstGeom prst="rect">
            <a:avLst/>
          </a:prstGeom>
          <a:noFill/>
          <a:ln/>
        </p:spPr>
        <p:txBody>
          <a:bodyPr wrap="square" rtlCol="0" anchor="ctr"/>
          <a:lstStyle/>
          <a:p>
            <a:pPr marL="0" indent="0">
              <a:buNone/>
            </a:pPr>
            <a:r>
              <a:rPr lang="en-US" sz="1100" b="1" kern="0" spc="100" dirty="0">
                <a:solidFill>
                  <a:srgbClr val="2E6E63"/>
                </a:solidFill>
                <a:latin typeface="Calibri" pitchFamily="34" charset="0"/>
                <a:ea typeface="Calibri" pitchFamily="34" charset="-122"/>
                <a:cs typeface="Calibri" pitchFamily="34" charset="-120"/>
              </a:rPr>
              <a:t>AKUISISI &amp; PRA-PEMROSESAN DATA</a:t>
            </a:r>
            <a:endParaRPr lang="en-US" sz="1100" dirty="0"/>
          </a:p>
        </p:txBody>
      </p:sp>
      <p:sp>
        <p:nvSpPr>
          <p:cNvPr id="29" name="Text 27"/>
          <p:cNvSpPr/>
          <p:nvPr/>
        </p:nvSpPr>
        <p:spPr>
          <a:xfrm>
            <a:off x="822960" y="4206240"/>
            <a:ext cx="5029200" cy="2103120"/>
          </a:xfrm>
          <a:prstGeom prst="rect">
            <a:avLst/>
          </a:prstGeom>
          <a:noFill/>
          <a:ln/>
        </p:spPr>
        <p:txBody>
          <a:bodyPr wrap="square" rtlCol="0" anchor="ctr"/>
          <a:lstStyle/>
          <a:p>
            <a:pPr marL="0" indent="0">
              <a:lnSpc>
                <a:spcPct val="135000"/>
              </a:lnSpc>
              <a:buNone/>
            </a:pPr>
            <a:r>
              <a:rPr lang="en-US" sz="1080" dirty="0">
                <a:solidFill>
                  <a:srgbClr val="5B6472"/>
                </a:solidFill>
                <a:latin typeface="Calibri" pitchFamily="34" charset="0"/>
                <a:ea typeface="Calibri" pitchFamily="34" charset="-122"/>
                <a:cs typeface="Calibri" pitchFamily="34" charset="-120"/>
              </a:rPr>
              <a:t>25.675 sampel data terkumpul dari 18 kelas gestur tangan (palm, fist, peace, four, like, dislike, ok, dan lainnya), direkam mandiri melalui webcam. Tidak ditemukan missing value karena kegagalan deteksi MediaPipe tidak disimpan ke dataset. Label kelas diubah menjadi numerik melalui LabelEncoder, kemudian data dibagi secara stratified sebesar 80% data latih (20.540 sampel) dan 20% data uji (5.135 sampel).</a:t>
            </a:r>
            <a:endParaRPr lang="en-US" sz="1080" dirty="0"/>
          </a:p>
        </p:txBody>
      </p:sp>
      <p:sp>
        <p:nvSpPr>
          <p:cNvPr id="30" name="Shape 28"/>
          <p:cNvSpPr/>
          <p:nvPr/>
        </p:nvSpPr>
        <p:spPr>
          <a:xfrm>
            <a:off x="6263640" y="3840480"/>
            <a:ext cx="0" cy="2377440"/>
          </a:xfrm>
          <a:prstGeom prst="line">
            <a:avLst/>
          </a:prstGeom>
          <a:noFill/>
          <a:ln w="12700">
            <a:solidFill>
              <a:srgbClr val="D9DEE6"/>
            </a:solidFill>
            <a:prstDash val="solid"/>
          </a:ln>
        </p:spPr>
      </p:sp>
      <p:sp>
        <p:nvSpPr>
          <p:cNvPr id="31" name="Text 29"/>
          <p:cNvSpPr/>
          <p:nvPr/>
        </p:nvSpPr>
        <p:spPr>
          <a:xfrm>
            <a:off x="6537960" y="3840480"/>
            <a:ext cx="4846320" cy="274320"/>
          </a:xfrm>
          <a:prstGeom prst="rect">
            <a:avLst/>
          </a:prstGeom>
          <a:noFill/>
          <a:ln/>
        </p:spPr>
        <p:txBody>
          <a:bodyPr wrap="square" rtlCol="0" anchor="ctr"/>
          <a:lstStyle/>
          <a:p>
            <a:pPr marL="0" indent="0">
              <a:buNone/>
            </a:pPr>
            <a:r>
              <a:rPr lang="en-US" sz="1100" b="1" kern="0" spc="100" dirty="0">
                <a:solidFill>
                  <a:srgbClr val="2E6E63"/>
                </a:solidFill>
                <a:latin typeface="Calibri" pitchFamily="34" charset="0"/>
                <a:ea typeface="Calibri" pitchFamily="34" charset="-122"/>
                <a:cs typeface="Calibri" pitchFamily="34" charset="-120"/>
              </a:rPr>
              <a:t>REPRESENTASI FITUR</a:t>
            </a:r>
            <a:endParaRPr lang="en-US" sz="1100" dirty="0"/>
          </a:p>
        </p:txBody>
      </p:sp>
      <p:sp>
        <p:nvSpPr>
          <p:cNvPr id="32" name="Text 30"/>
          <p:cNvSpPr/>
          <p:nvPr/>
        </p:nvSpPr>
        <p:spPr>
          <a:xfrm>
            <a:off x="6537960" y="4206240"/>
            <a:ext cx="4846320" cy="685800"/>
          </a:xfrm>
          <a:prstGeom prst="rect">
            <a:avLst/>
          </a:prstGeom>
          <a:noFill/>
          <a:ln/>
        </p:spPr>
        <p:txBody>
          <a:bodyPr wrap="square" rtlCol="0" anchor="ctr"/>
          <a:lstStyle/>
          <a:p>
            <a:pPr marL="0" indent="0">
              <a:lnSpc>
                <a:spcPct val="135000"/>
              </a:lnSpc>
              <a:buNone/>
            </a:pPr>
            <a:r>
              <a:rPr lang="en-US" sz="1080" dirty="0">
                <a:solidFill>
                  <a:srgbClr val="5B6472"/>
                </a:solidFill>
                <a:latin typeface="Calibri" pitchFamily="34" charset="0"/>
                <a:ea typeface="Calibri" pitchFamily="34" charset="-122"/>
                <a:cs typeface="Calibri" pitchFamily="34" charset="-120"/>
              </a:rPr>
              <a:t>Setiap sampel terdiri dari 21 titik sendi tangan dengan koordinat (X, Y, Z), sehingga menghasilkan total 63 fitur numerik per frame:</a:t>
            </a:r>
            <a:endParaRPr lang="en-US" sz="1080" dirty="0"/>
          </a:p>
        </p:txBody>
      </p:sp>
      <p:sp>
        <p:nvSpPr>
          <p:cNvPr id="33" name="Text 31"/>
          <p:cNvSpPr/>
          <p:nvPr/>
        </p:nvSpPr>
        <p:spPr>
          <a:xfrm>
            <a:off x="6537960" y="5029200"/>
            <a:ext cx="4846320" cy="457200"/>
          </a:xfrm>
          <a:prstGeom prst="rect">
            <a:avLst/>
          </a:prstGeom>
          <a:noFill/>
          <a:ln/>
        </p:spPr>
        <p:txBody>
          <a:bodyPr wrap="square" rtlCol="0" anchor="ctr"/>
          <a:lstStyle/>
          <a:p>
            <a:pPr marL="0" indent="0">
              <a:buNone/>
            </a:pPr>
            <a:r>
              <a:rPr lang="en-US" sz="1250" i="1" dirty="0">
                <a:solidFill>
                  <a:srgbClr val="1E2530"/>
                </a:solidFill>
                <a:latin typeface="Courier New" pitchFamily="34" charset="0"/>
                <a:ea typeface="Courier New" pitchFamily="34" charset="-122"/>
                <a:cs typeface="Courier New" pitchFamily="34" charset="-120"/>
              </a:rPr>
              <a:t>X = { x₁, y₁, z₁, x₂, y₂, z₂, …, x₂₁, y₂₁, z₂₁ }</a:t>
            </a:r>
            <a:endParaRPr lang="en-US" sz="1250" dirty="0"/>
          </a:p>
        </p:txBody>
      </p:sp>
      <p:sp>
        <p:nvSpPr>
          <p:cNvPr id="34" name="Text 32"/>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03. DATASET</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Contoh Kelas Gestur dalam Dataset</a:t>
            </a:r>
            <a:endParaRPr lang="en-US" sz="2500" dirty="0"/>
          </a:p>
        </p:txBody>
      </p:sp>
      <p:sp>
        <p:nvSpPr>
          <p:cNvPr id="4" name="Text 2"/>
          <p:cNvSpPr/>
          <p:nvPr/>
        </p:nvSpPr>
        <p:spPr>
          <a:xfrm>
            <a:off x="822960" y="1508760"/>
            <a:ext cx="10241280" cy="457200"/>
          </a:xfrm>
          <a:prstGeom prst="rect">
            <a:avLst/>
          </a:prstGeom>
          <a:noFill/>
          <a:ln/>
        </p:spPr>
        <p:txBody>
          <a:bodyPr wrap="square" rtlCol="0" anchor="ctr"/>
          <a:lstStyle/>
          <a:p>
            <a:pPr marL="0" indent="0">
              <a:lnSpc>
                <a:spcPct val="130000"/>
              </a:lnSpc>
              <a:buNone/>
            </a:pPr>
            <a:r>
              <a:rPr lang="en-US" sz="1200" dirty="0">
                <a:solidFill>
                  <a:srgbClr val="5B6472"/>
                </a:solidFill>
                <a:latin typeface="Calibri" pitchFamily="34" charset="0"/>
                <a:ea typeface="Calibri" pitchFamily="34" charset="-122"/>
                <a:cs typeface="Calibri" pitchFamily="34" charset="-120"/>
              </a:rPr>
              <a:t>18 kelas gestur direkam mandiri melalui webcam pada berbagai kondisi pencahayaan dan latar belakang. Tiga contoh berikut menunjukkan hasil deteksi landmark MediaPipe secara real-time.</a:t>
            </a:r>
            <a:endParaRPr lang="en-US" sz="1200" dirty="0"/>
          </a:p>
        </p:txBody>
      </p:sp>
      <p:sp>
        <p:nvSpPr>
          <p:cNvPr id="6" name="Text 3"/>
          <p:cNvSpPr/>
          <p:nvPr/>
        </p:nvSpPr>
        <p:spPr>
          <a:xfrm>
            <a:off x="822960" y="5989320"/>
            <a:ext cx="3270504" cy="320040"/>
          </a:xfrm>
          <a:prstGeom prst="rect">
            <a:avLst/>
          </a:prstGeom>
          <a:noFill/>
          <a:ln/>
        </p:spPr>
        <p:txBody>
          <a:bodyPr wrap="square" rtlCol="0" anchor="ctr"/>
          <a:lstStyle/>
          <a:p>
            <a:pPr marL="0" indent="0" algn="ctr">
              <a:buNone/>
            </a:pPr>
            <a:r>
              <a:rPr lang="en-US" sz="1200" dirty="0">
                <a:solidFill>
                  <a:srgbClr val="1E2530"/>
                </a:solidFill>
                <a:latin typeface="Calibri" pitchFamily="34" charset="0"/>
                <a:ea typeface="Calibri" pitchFamily="34" charset="-122"/>
                <a:cs typeface="Calibri" pitchFamily="34" charset="-120"/>
              </a:rPr>
              <a:t>Gestur “Peace”</a:t>
            </a:r>
            <a:endParaRPr lang="en-US" sz="1200" dirty="0"/>
          </a:p>
        </p:txBody>
      </p:sp>
      <p:sp>
        <p:nvSpPr>
          <p:cNvPr id="8" name="Text 4"/>
          <p:cNvSpPr/>
          <p:nvPr/>
        </p:nvSpPr>
        <p:spPr>
          <a:xfrm>
            <a:off x="4459224" y="5989320"/>
            <a:ext cx="3270504" cy="320040"/>
          </a:xfrm>
          <a:prstGeom prst="rect">
            <a:avLst/>
          </a:prstGeom>
          <a:noFill/>
          <a:ln/>
        </p:spPr>
        <p:txBody>
          <a:bodyPr wrap="square" rtlCol="0" anchor="ctr"/>
          <a:lstStyle/>
          <a:p>
            <a:pPr marL="0" indent="0" algn="ctr">
              <a:buNone/>
            </a:pPr>
            <a:r>
              <a:rPr lang="en-US" sz="1200" dirty="0">
                <a:solidFill>
                  <a:srgbClr val="1E2530"/>
                </a:solidFill>
                <a:latin typeface="Calibri" pitchFamily="34" charset="0"/>
                <a:ea typeface="Calibri" pitchFamily="34" charset="-122"/>
                <a:cs typeface="Calibri" pitchFamily="34" charset="-120"/>
              </a:rPr>
              <a:t>Gestur “Fist”</a:t>
            </a:r>
            <a:endParaRPr lang="en-US" sz="1200" dirty="0"/>
          </a:p>
        </p:txBody>
      </p:sp>
      <p:sp>
        <p:nvSpPr>
          <p:cNvPr id="10" name="Text 5"/>
          <p:cNvSpPr/>
          <p:nvPr/>
        </p:nvSpPr>
        <p:spPr>
          <a:xfrm>
            <a:off x="8095488" y="5989320"/>
            <a:ext cx="3270504" cy="320040"/>
          </a:xfrm>
          <a:prstGeom prst="rect">
            <a:avLst/>
          </a:prstGeom>
          <a:noFill/>
          <a:ln/>
        </p:spPr>
        <p:txBody>
          <a:bodyPr wrap="square" rtlCol="0" anchor="ctr"/>
          <a:lstStyle/>
          <a:p>
            <a:pPr marL="0" indent="0" algn="ctr">
              <a:buNone/>
            </a:pPr>
            <a:r>
              <a:rPr lang="en-US" sz="1200" dirty="0">
                <a:solidFill>
                  <a:srgbClr val="1E2530"/>
                </a:solidFill>
                <a:latin typeface="Calibri" pitchFamily="34" charset="0"/>
                <a:ea typeface="Calibri" pitchFamily="34" charset="-122"/>
                <a:cs typeface="Calibri" pitchFamily="34" charset="-120"/>
              </a:rPr>
              <a:t>Gestur “Four”</a:t>
            </a:r>
            <a:endParaRPr lang="en-US" sz="1200" dirty="0"/>
          </a:p>
        </p:txBody>
      </p:sp>
      <p:sp>
        <p:nvSpPr>
          <p:cNvPr id="11" name="Text 6"/>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05</a:t>
            </a:r>
            <a:endParaRPr lang="en-US" sz="900" dirty="0"/>
          </a:p>
        </p:txBody>
      </p:sp>
      <p:pic>
        <p:nvPicPr>
          <p:cNvPr id="16" name="Picture 15">
            <a:extLst>
              <a:ext uri="{FF2B5EF4-FFF2-40B4-BE49-F238E27FC236}">
                <a16:creationId xmlns:a16="http://schemas.microsoft.com/office/drawing/2014/main" id="{AE26C779-B2C2-7E86-82F1-D52175D9E3B9}"/>
              </a:ext>
            </a:extLst>
          </p:cNvPr>
          <p:cNvPicPr>
            <a:picLocks noChangeAspect="1"/>
          </p:cNvPicPr>
          <p:nvPr/>
        </p:nvPicPr>
        <p:blipFill>
          <a:blip r:embed="rId3"/>
          <a:stretch>
            <a:fillRect/>
          </a:stretch>
        </p:blipFill>
        <p:spPr>
          <a:xfrm>
            <a:off x="1408264" y="2399097"/>
            <a:ext cx="2260547" cy="2950143"/>
          </a:xfrm>
          <a:prstGeom prst="rect">
            <a:avLst/>
          </a:prstGeom>
        </p:spPr>
      </p:pic>
      <p:pic>
        <p:nvPicPr>
          <p:cNvPr id="18" name="Picture 17">
            <a:extLst>
              <a:ext uri="{FF2B5EF4-FFF2-40B4-BE49-F238E27FC236}">
                <a16:creationId xmlns:a16="http://schemas.microsoft.com/office/drawing/2014/main" id="{AAE4E0EC-3E19-D87A-EC74-96DD558226EB}"/>
              </a:ext>
            </a:extLst>
          </p:cNvPr>
          <p:cNvPicPr>
            <a:picLocks noChangeAspect="1"/>
          </p:cNvPicPr>
          <p:nvPr/>
        </p:nvPicPr>
        <p:blipFill>
          <a:blip r:embed="rId4"/>
          <a:stretch>
            <a:fillRect/>
          </a:stretch>
        </p:blipFill>
        <p:spPr>
          <a:xfrm>
            <a:off x="5362941" y="2280564"/>
            <a:ext cx="1435638" cy="3036281"/>
          </a:xfrm>
          <a:prstGeom prst="rect">
            <a:avLst/>
          </a:prstGeom>
        </p:spPr>
      </p:pic>
      <p:pic>
        <p:nvPicPr>
          <p:cNvPr id="20" name="Picture 19">
            <a:extLst>
              <a:ext uri="{FF2B5EF4-FFF2-40B4-BE49-F238E27FC236}">
                <a16:creationId xmlns:a16="http://schemas.microsoft.com/office/drawing/2014/main" id="{71E9BE58-AFB2-7E90-9D86-CBF1F51D8F1C}"/>
              </a:ext>
            </a:extLst>
          </p:cNvPr>
          <p:cNvPicPr>
            <a:picLocks noChangeAspect="1"/>
          </p:cNvPicPr>
          <p:nvPr/>
        </p:nvPicPr>
        <p:blipFill>
          <a:blip r:embed="rId5"/>
          <a:stretch>
            <a:fillRect/>
          </a:stretch>
        </p:blipFill>
        <p:spPr>
          <a:xfrm>
            <a:off x="9021113" y="2162946"/>
            <a:ext cx="1419254" cy="31538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04. PEMODELAN</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Dua Pendekatan Algoritma Klasifikasi</a:t>
            </a:r>
            <a:endParaRPr lang="en-US" sz="2500" dirty="0"/>
          </a:p>
        </p:txBody>
      </p:sp>
      <p:sp>
        <p:nvSpPr>
          <p:cNvPr id="4" name="Text 2"/>
          <p:cNvSpPr/>
          <p:nvPr/>
        </p:nvSpPr>
        <p:spPr>
          <a:xfrm>
            <a:off x="822960" y="1737360"/>
            <a:ext cx="5120640" cy="365760"/>
          </a:xfrm>
          <a:prstGeom prst="rect">
            <a:avLst/>
          </a:prstGeom>
          <a:noFill/>
          <a:ln/>
        </p:spPr>
        <p:txBody>
          <a:bodyPr wrap="square" rtlCol="0" anchor="ctr"/>
          <a:lstStyle/>
          <a:p>
            <a:pPr marL="0" indent="0">
              <a:buNone/>
            </a:pPr>
            <a:r>
              <a:rPr lang="en-US" sz="1650" b="1" dirty="0">
                <a:solidFill>
                  <a:srgbClr val="1E2530"/>
                </a:solidFill>
                <a:latin typeface="Cambria" pitchFamily="34" charset="0"/>
                <a:ea typeface="Cambria" pitchFamily="34" charset="-122"/>
                <a:cs typeface="Cambria" pitchFamily="34" charset="-120"/>
              </a:rPr>
              <a:t>Random Forest Classifier</a:t>
            </a:r>
            <a:endParaRPr lang="en-US" sz="1650" dirty="0"/>
          </a:p>
        </p:txBody>
      </p:sp>
      <p:sp>
        <p:nvSpPr>
          <p:cNvPr id="5" name="Text 3"/>
          <p:cNvSpPr/>
          <p:nvPr/>
        </p:nvSpPr>
        <p:spPr>
          <a:xfrm>
            <a:off x="822960" y="2121408"/>
            <a:ext cx="5120640" cy="274320"/>
          </a:xfrm>
          <a:prstGeom prst="rect">
            <a:avLst/>
          </a:prstGeom>
          <a:noFill/>
          <a:ln/>
        </p:spPr>
        <p:txBody>
          <a:bodyPr wrap="square"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Ensemble Method</a:t>
            </a:r>
            <a:endParaRPr lang="en-US" sz="1050" dirty="0"/>
          </a:p>
        </p:txBody>
      </p:sp>
      <p:sp>
        <p:nvSpPr>
          <p:cNvPr id="6" name="Text 4"/>
          <p:cNvSpPr/>
          <p:nvPr/>
        </p:nvSpPr>
        <p:spPr>
          <a:xfrm>
            <a:off x="822960" y="2514600"/>
            <a:ext cx="5029200" cy="822960"/>
          </a:xfrm>
          <a:prstGeom prst="rect">
            <a:avLst/>
          </a:prstGeom>
          <a:noFill/>
          <a:ln/>
        </p:spPr>
        <p:txBody>
          <a:bodyPr wrap="square" rtlCol="0" anchor="ctr"/>
          <a:lstStyle/>
          <a:p>
            <a:pPr marL="0" indent="0">
              <a:lnSpc>
                <a:spcPct val="135000"/>
              </a:lnSpc>
              <a:buNone/>
            </a:pPr>
            <a:r>
              <a:rPr lang="en-US" sz="1100" dirty="0">
                <a:solidFill>
                  <a:srgbClr val="5B6472"/>
                </a:solidFill>
                <a:latin typeface="Calibri" pitchFamily="34" charset="0"/>
                <a:ea typeface="Calibri" pitchFamily="34" charset="-122"/>
                <a:cs typeface="Calibri" pitchFamily="34" charset="-120"/>
              </a:rPr>
              <a:t>Model berbasis kumpulan pohon keputusan (decision trees) yang membagi keputusan fitur secara bertahap berdasarkan pembagian Gini impurity atau entropy.</a:t>
            </a:r>
            <a:endParaRPr lang="en-US" sz="1100" dirty="0"/>
          </a:p>
        </p:txBody>
      </p:sp>
      <p:sp>
        <p:nvSpPr>
          <p:cNvPr id="7" name="Shape 5"/>
          <p:cNvSpPr/>
          <p:nvPr/>
        </p:nvSpPr>
        <p:spPr>
          <a:xfrm>
            <a:off x="822960" y="3429000"/>
            <a:ext cx="5029200" cy="0"/>
          </a:xfrm>
          <a:prstGeom prst="line">
            <a:avLst/>
          </a:prstGeom>
          <a:noFill/>
          <a:ln w="12700">
            <a:solidFill>
              <a:srgbClr val="D9DEE6"/>
            </a:solidFill>
            <a:prstDash val="solid"/>
          </a:ln>
        </p:spPr>
      </p:sp>
      <p:sp>
        <p:nvSpPr>
          <p:cNvPr id="8" name="Text 6"/>
          <p:cNvSpPr/>
          <p:nvPr/>
        </p:nvSpPr>
        <p:spPr>
          <a:xfrm>
            <a:off x="822960" y="3611880"/>
            <a:ext cx="5029200" cy="365760"/>
          </a:xfrm>
          <a:prstGeom prst="rect">
            <a:avLst/>
          </a:prstGeom>
          <a:noFill/>
          <a:ln/>
        </p:spPr>
        <p:txBody>
          <a:bodyPr wrap="square" rtlCol="0" anchor="ctr"/>
          <a:lstStyle/>
          <a:p>
            <a:pPr marL="0" indent="0">
              <a:buNone/>
            </a:pPr>
            <a:r>
              <a:rPr lang="en-US" sz="1100" dirty="0">
                <a:solidFill>
                  <a:srgbClr val="1E2530"/>
                </a:solidFill>
                <a:latin typeface="Calibri" pitchFamily="34" charset="0"/>
                <a:ea typeface="Calibri" pitchFamily="34" charset="-122"/>
                <a:cs typeface="Calibri" pitchFamily="34" charset="-120"/>
              </a:rPr>
              <a:t>–  Akurasi training tinggi (98.50%), namun rawan overfitting</a:t>
            </a:r>
            <a:endParaRPr lang="en-US" sz="1100" dirty="0"/>
          </a:p>
        </p:txBody>
      </p:sp>
      <p:sp>
        <p:nvSpPr>
          <p:cNvPr id="9" name="Text 7"/>
          <p:cNvSpPr/>
          <p:nvPr/>
        </p:nvSpPr>
        <p:spPr>
          <a:xfrm>
            <a:off x="822960" y="3995928"/>
            <a:ext cx="5029200" cy="365760"/>
          </a:xfrm>
          <a:prstGeom prst="rect">
            <a:avLst/>
          </a:prstGeom>
          <a:noFill/>
          <a:ln/>
        </p:spPr>
        <p:txBody>
          <a:bodyPr wrap="square" rtlCol="0" anchor="ctr"/>
          <a:lstStyle/>
          <a:p>
            <a:pPr marL="0" indent="0">
              <a:buNone/>
            </a:pPr>
            <a:r>
              <a:rPr lang="en-US" sz="1100" dirty="0">
                <a:solidFill>
                  <a:srgbClr val="1E2530"/>
                </a:solidFill>
                <a:latin typeface="Calibri" pitchFamily="34" charset="0"/>
                <a:ea typeface="Calibri" pitchFamily="34" charset="-122"/>
                <a:cs typeface="Calibri" pitchFamily="34" charset="-120"/>
              </a:rPr>
              <a:t>–  Akurasi testing: 82.03%</a:t>
            </a:r>
            <a:endParaRPr lang="en-US" sz="1100" dirty="0"/>
          </a:p>
        </p:txBody>
      </p:sp>
      <p:sp>
        <p:nvSpPr>
          <p:cNvPr id="10" name="Text 8"/>
          <p:cNvSpPr/>
          <p:nvPr/>
        </p:nvSpPr>
        <p:spPr>
          <a:xfrm>
            <a:off x="822960" y="4379976"/>
            <a:ext cx="5029200" cy="365760"/>
          </a:xfrm>
          <a:prstGeom prst="rect">
            <a:avLst/>
          </a:prstGeom>
          <a:noFill/>
          <a:ln/>
        </p:spPr>
        <p:txBody>
          <a:bodyPr wrap="square" rtlCol="0" anchor="ctr"/>
          <a:lstStyle/>
          <a:p>
            <a:pPr marL="0" indent="0">
              <a:buNone/>
            </a:pPr>
            <a:r>
              <a:rPr lang="en-US" sz="1100" dirty="0">
                <a:solidFill>
                  <a:srgbClr val="1E2530"/>
                </a:solidFill>
                <a:latin typeface="Calibri" pitchFamily="34" charset="0"/>
                <a:ea typeface="Calibri" pitchFamily="34" charset="-122"/>
                <a:cs typeface="Calibri" pitchFamily="34" charset="-120"/>
              </a:rPr>
              <a:t>–  Ukuran model relatif besar: ≈ 307 MB</a:t>
            </a:r>
            <a:endParaRPr lang="en-US" sz="1100" dirty="0"/>
          </a:p>
        </p:txBody>
      </p:sp>
      <p:sp>
        <p:nvSpPr>
          <p:cNvPr id="11" name="Shape 9"/>
          <p:cNvSpPr/>
          <p:nvPr/>
        </p:nvSpPr>
        <p:spPr>
          <a:xfrm>
            <a:off x="6263640" y="1737360"/>
            <a:ext cx="0" cy="3200400"/>
          </a:xfrm>
          <a:prstGeom prst="line">
            <a:avLst/>
          </a:prstGeom>
          <a:noFill/>
          <a:ln w="12700">
            <a:solidFill>
              <a:srgbClr val="D9DEE6"/>
            </a:solidFill>
            <a:prstDash val="solid"/>
          </a:ln>
        </p:spPr>
      </p:sp>
      <p:sp>
        <p:nvSpPr>
          <p:cNvPr id="12" name="Text 10"/>
          <p:cNvSpPr/>
          <p:nvPr/>
        </p:nvSpPr>
        <p:spPr>
          <a:xfrm>
            <a:off x="6537960" y="1737360"/>
            <a:ext cx="4846320" cy="365760"/>
          </a:xfrm>
          <a:prstGeom prst="rect">
            <a:avLst/>
          </a:prstGeom>
          <a:noFill/>
          <a:ln/>
        </p:spPr>
        <p:txBody>
          <a:bodyPr wrap="square" rtlCol="0" anchor="ctr"/>
          <a:lstStyle/>
          <a:p>
            <a:pPr marL="0" indent="0">
              <a:buNone/>
            </a:pPr>
            <a:r>
              <a:rPr lang="en-US" sz="1650" b="1" dirty="0">
                <a:solidFill>
                  <a:srgbClr val="1E2530"/>
                </a:solidFill>
                <a:latin typeface="Cambria" pitchFamily="34" charset="0"/>
                <a:ea typeface="Cambria" pitchFamily="34" charset="-122"/>
                <a:cs typeface="Cambria" pitchFamily="34" charset="-120"/>
              </a:rPr>
              <a:t>Support Vector Machine </a:t>
            </a:r>
            <a:r>
              <a:rPr lang="en-US" sz="1300" i="1" dirty="0">
                <a:solidFill>
                  <a:srgbClr val="C9821F"/>
                </a:solidFill>
                <a:latin typeface="Cambria" pitchFamily="34" charset="0"/>
                <a:ea typeface="Cambria" pitchFamily="34" charset="-122"/>
                <a:cs typeface="Cambria" pitchFamily="34" charset="-120"/>
              </a:rPr>
              <a:t>— Model Terpilih</a:t>
            </a:r>
            <a:endParaRPr lang="en-US" sz="1650" dirty="0"/>
          </a:p>
        </p:txBody>
      </p:sp>
      <p:sp>
        <p:nvSpPr>
          <p:cNvPr id="13" name="Text 11"/>
          <p:cNvSpPr/>
          <p:nvPr/>
        </p:nvSpPr>
        <p:spPr>
          <a:xfrm>
            <a:off x="6537960" y="2121408"/>
            <a:ext cx="4846320" cy="274320"/>
          </a:xfrm>
          <a:prstGeom prst="rect">
            <a:avLst/>
          </a:prstGeom>
          <a:noFill/>
          <a:ln/>
        </p:spPr>
        <p:txBody>
          <a:bodyPr wrap="square"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Kernel Linear</a:t>
            </a:r>
            <a:endParaRPr lang="en-US" sz="1050" dirty="0"/>
          </a:p>
        </p:txBody>
      </p:sp>
      <p:sp>
        <p:nvSpPr>
          <p:cNvPr id="14" name="Text 12"/>
          <p:cNvSpPr/>
          <p:nvPr/>
        </p:nvSpPr>
        <p:spPr>
          <a:xfrm>
            <a:off x="6537960" y="2514600"/>
            <a:ext cx="4846320" cy="594360"/>
          </a:xfrm>
          <a:prstGeom prst="rect">
            <a:avLst/>
          </a:prstGeom>
          <a:noFill/>
          <a:ln/>
        </p:spPr>
        <p:txBody>
          <a:bodyPr wrap="square" rtlCol="0" anchor="ctr"/>
          <a:lstStyle/>
          <a:p>
            <a:pPr marL="0" indent="0">
              <a:lnSpc>
                <a:spcPct val="135000"/>
              </a:lnSpc>
              <a:buNone/>
            </a:pPr>
            <a:r>
              <a:rPr lang="en-US" sz="1100" dirty="0">
                <a:solidFill>
                  <a:srgbClr val="5B6472"/>
                </a:solidFill>
                <a:latin typeface="Calibri" pitchFamily="34" charset="0"/>
                <a:ea typeface="Calibri" pitchFamily="34" charset="-122"/>
                <a:cs typeface="Calibri" pitchFamily="34" charset="-120"/>
              </a:rPr>
              <a:t>Mencari hyperplane pemisah linier terbaik yang memaksimalkan margin antar kelas dalam ruang dimensi tinggi:</a:t>
            </a:r>
            <a:endParaRPr lang="en-US" sz="1100" dirty="0"/>
          </a:p>
        </p:txBody>
      </p:sp>
      <p:sp>
        <p:nvSpPr>
          <p:cNvPr id="15" name="Text 13"/>
          <p:cNvSpPr/>
          <p:nvPr/>
        </p:nvSpPr>
        <p:spPr>
          <a:xfrm>
            <a:off x="6537960" y="3127248"/>
            <a:ext cx="4846320" cy="365760"/>
          </a:xfrm>
          <a:prstGeom prst="rect">
            <a:avLst/>
          </a:prstGeom>
          <a:noFill/>
          <a:ln/>
        </p:spPr>
        <p:txBody>
          <a:bodyPr wrap="square" rtlCol="0" anchor="ctr"/>
          <a:lstStyle/>
          <a:p>
            <a:pPr marL="0" indent="0">
              <a:buNone/>
            </a:pPr>
            <a:r>
              <a:rPr lang="en-US" sz="1400" i="1" dirty="0">
                <a:solidFill>
                  <a:srgbClr val="1E2530"/>
                </a:solidFill>
                <a:latin typeface="Courier New" pitchFamily="34" charset="0"/>
                <a:ea typeface="Courier New" pitchFamily="34" charset="-122"/>
                <a:cs typeface="Courier New" pitchFamily="34" charset="-120"/>
              </a:rPr>
              <a:t>wᵀx + b = 0</a:t>
            </a:r>
            <a:endParaRPr lang="en-US" sz="1400" dirty="0"/>
          </a:p>
        </p:txBody>
      </p:sp>
      <p:sp>
        <p:nvSpPr>
          <p:cNvPr id="16" name="Shape 14"/>
          <p:cNvSpPr/>
          <p:nvPr/>
        </p:nvSpPr>
        <p:spPr>
          <a:xfrm>
            <a:off x="6537960" y="3566160"/>
            <a:ext cx="4846320" cy="0"/>
          </a:xfrm>
          <a:prstGeom prst="line">
            <a:avLst/>
          </a:prstGeom>
          <a:noFill/>
          <a:ln w="12700">
            <a:solidFill>
              <a:srgbClr val="D9DEE6"/>
            </a:solidFill>
            <a:prstDash val="solid"/>
          </a:ln>
        </p:spPr>
      </p:sp>
      <p:sp>
        <p:nvSpPr>
          <p:cNvPr id="17" name="Text 15"/>
          <p:cNvSpPr/>
          <p:nvPr/>
        </p:nvSpPr>
        <p:spPr>
          <a:xfrm>
            <a:off x="6537960" y="3749040"/>
            <a:ext cx="4846320" cy="365760"/>
          </a:xfrm>
          <a:prstGeom prst="rect">
            <a:avLst/>
          </a:prstGeom>
          <a:noFill/>
          <a:ln/>
        </p:spPr>
        <p:txBody>
          <a:bodyPr wrap="square" rtlCol="0" anchor="ctr"/>
          <a:lstStyle/>
          <a:p>
            <a:pPr marL="0" indent="0">
              <a:buNone/>
            </a:pPr>
            <a:r>
              <a:rPr lang="en-US" sz="1100" dirty="0">
                <a:solidFill>
                  <a:srgbClr val="1E2530"/>
                </a:solidFill>
                <a:latin typeface="Calibri" pitchFamily="34" charset="0"/>
                <a:ea typeface="Calibri" pitchFamily="34" charset="-122"/>
                <a:cs typeface="Calibri" pitchFamily="34" charset="-120"/>
              </a:rPr>
              <a:t>–  Koordinat landmark bersifat linearly separable</a:t>
            </a:r>
            <a:endParaRPr lang="en-US" sz="1100" dirty="0"/>
          </a:p>
        </p:txBody>
      </p:sp>
      <p:sp>
        <p:nvSpPr>
          <p:cNvPr id="18" name="Text 16"/>
          <p:cNvSpPr/>
          <p:nvPr/>
        </p:nvSpPr>
        <p:spPr>
          <a:xfrm>
            <a:off x="6537960" y="4133088"/>
            <a:ext cx="4846320" cy="365760"/>
          </a:xfrm>
          <a:prstGeom prst="rect">
            <a:avLst/>
          </a:prstGeom>
          <a:noFill/>
          <a:ln/>
        </p:spPr>
        <p:txBody>
          <a:bodyPr wrap="square" rtlCol="0" anchor="ctr"/>
          <a:lstStyle/>
          <a:p>
            <a:pPr marL="0" indent="0">
              <a:buNone/>
            </a:pPr>
            <a:r>
              <a:rPr lang="en-US" sz="1100" dirty="0">
                <a:solidFill>
                  <a:srgbClr val="1E2530"/>
                </a:solidFill>
                <a:latin typeface="Calibri" pitchFamily="34" charset="0"/>
                <a:ea typeface="Calibri" pitchFamily="34" charset="-122"/>
                <a:cs typeface="Calibri" pitchFamily="34" charset="-120"/>
              </a:rPr>
              <a:t>–  Akurasi testing: 93.55% (tertinggi)</a:t>
            </a:r>
            <a:endParaRPr lang="en-US" sz="1100" dirty="0"/>
          </a:p>
        </p:txBody>
      </p:sp>
      <p:sp>
        <p:nvSpPr>
          <p:cNvPr id="19" name="Text 17"/>
          <p:cNvSpPr/>
          <p:nvPr/>
        </p:nvSpPr>
        <p:spPr>
          <a:xfrm>
            <a:off x="6537960" y="4517136"/>
            <a:ext cx="4846320" cy="365760"/>
          </a:xfrm>
          <a:prstGeom prst="rect">
            <a:avLst/>
          </a:prstGeom>
          <a:noFill/>
          <a:ln/>
        </p:spPr>
        <p:txBody>
          <a:bodyPr wrap="square" rtlCol="0" anchor="ctr"/>
          <a:lstStyle/>
          <a:p>
            <a:pPr marL="0" indent="0">
              <a:buNone/>
            </a:pPr>
            <a:r>
              <a:rPr lang="en-US" sz="1100" dirty="0">
                <a:solidFill>
                  <a:srgbClr val="1E2530"/>
                </a:solidFill>
                <a:latin typeface="Calibri" pitchFamily="34" charset="0"/>
                <a:ea typeface="Calibri" pitchFamily="34" charset="-122"/>
                <a:cs typeface="Calibri" pitchFamily="34" charset="-120"/>
              </a:rPr>
              <a:t>–  Ukuran model sangat ringan: ≈ 8.4 MB</a:t>
            </a:r>
            <a:endParaRPr lang="en-US" sz="1100" dirty="0"/>
          </a:p>
        </p:txBody>
      </p:sp>
      <p:sp>
        <p:nvSpPr>
          <p:cNvPr id="20" name="Text 18"/>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05. HASIL EKSPERIMEN</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400" b="1" dirty="0">
                <a:solidFill>
                  <a:srgbClr val="1E2530"/>
                </a:solidFill>
                <a:latin typeface="Cambria" pitchFamily="34" charset="0"/>
                <a:ea typeface="Cambria" pitchFamily="34" charset="-122"/>
                <a:cs typeface="Cambria" pitchFamily="34" charset="-120"/>
              </a:rPr>
              <a:t>Perbandingan Performa Random Forest vs SVM</a:t>
            </a:r>
            <a:endParaRPr lang="en-US" sz="2400" dirty="0"/>
          </a:p>
        </p:txBody>
      </p:sp>
      <p:sp>
        <p:nvSpPr>
          <p:cNvPr id="4" name="Text 2"/>
          <p:cNvSpPr/>
          <p:nvPr/>
        </p:nvSpPr>
        <p:spPr>
          <a:xfrm>
            <a:off x="822960" y="1481328"/>
            <a:ext cx="9144000" cy="320040"/>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Diuji terhadap 5.135 data uji (20% dari total 25.675 sampel)</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1965960"/>
          <a:ext cx="10543032" cy="3867912"/>
        </p:xfrm>
        <a:graphic>
          <a:graphicData uri="http://schemas.openxmlformats.org/drawingml/2006/table">
            <a:tbl>
              <a:tblPr/>
              <a:tblGrid>
                <a:gridCol w="4142232">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2976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Metrik Evaluasi</a:t>
                      </a:r>
                      <a:endParaRPr lang="en-US" sz="115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3223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Random Forest (Tuned)</a:t>
                      </a:r>
                      <a:endParaRPr lang="en-US" sz="115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3223B"/>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SVM (Linear)</a:t>
                      </a:r>
                      <a:endParaRPr lang="en-US" sz="115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3223B"/>
                    </a:solidFill>
                  </a:tcPr>
                </a:tc>
                <a:extLst>
                  <a:ext uri="{0D108BD9-81ED-4DB2-BD59-A6C34878D82A}">
                    <a16:rowId xmlns:a16="http://schemas.microsoft.com/office/drawing/2014/main" val="10000"/>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Akurasi Pengujian</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82.03%</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93.55%</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Akurasi Pelatihan</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98.50%</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95.12%</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Precision (Macro)</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0.82</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Recall (Macro)</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0.81</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0.93</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F1-Score (Macro)</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0.81</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0.93</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ROC-AUC (Micro)</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0.9782</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0.9945</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Waktu Pelatihan</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 360 detik</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 1.920 detik</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lgn="l">
                        <a:buNone/>
                      </a:pPr>
                      <a:r>
                        <a:rPr lang="en-US" sz="1100" b="1" dirty="0">
                          <a:solidFill>
                            <a:srgbClr val="1E2530"/>
                          </a:solidFill>
                          <a:latin typeface="Calibri" pitchFamily="34" charset="0"/>
                          <a:ea typeface="Calibri" pitchFamily="34" charset="-122"/>
                          <a:cs typeface="Calibri" pitchFamily="34" charset="-120"/>
                        </a:rPr>
                        <a:t>Ukuran File Model</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 307 MB</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530"/>
                          </a:solidFill>
                          <a:latin typeface="Calibri" pitchFamily="34" charset="0"/>
                          <a:ea typeface="Calibri" pitchFamily="34" charset="-122"/>
                          <a:cs typeface="Calibri" pitchFamily="34" charset="-120"/>
                        </a:rPr>
                        <a:t>≈ 8.4 MB</a:t>
                      </a:r>
                      <a:endParaRPr lang="en-US" sz="1100" dirty="0">
                        <a:latin typeface="Calibri" charset="0"/>
                        <a:ea typeface="Calibri" charset="0"/>
                        <a:cs typeface="Calibri" charset="0"/>
                      </a:endParaRPr>
                    </a:p>
                  </a:txBody>
                  <a:tcPr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822960" y="5897880"/>
            <a:ext cx="10543032" cy="4572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Model SVM Linear terpilih sebagai model terbaik dengan akurasi uji </a:t>
            </a:r>
            <a:r>
              <a:rPr lang="en-US" sz="1150" b="1" dirty="0">
                <a:solidFill>
                  <a:srgbClr val="C9821F"/>
                </a:solidFill>
                <a:latin typeface="Calibri" pitchFamily="34" charset="0"/>
                <a:ea typeface="Calibri" pitchFamily="34" charset="-122"/>
                <a:cs typeface="Calibri" pitchFamily="34" charset="-120"/>
              </a:rPr>
              <a:t>93.55%</a:t>
            </a:r>
            <a:r>
              <a:rPr lang="en-US" sz="1150" dirty="0">
                <a:solidFill>
                  <a:srgbClr val="5B6472"/>
                </a:solidFill>
                <a:latin typeface="Calibri" pitchFamily="34" charset="0"/>
                <a:ea typeface="Calibri" pitchFamily="34" charset="-122"/>
                <a:cs typeface="Calibri" pitchFamily="34" charset="-120"/>
              </a:rPr>
              <a:t> — unggul 11.5 poin dari Random Forest, dengan ukuran file 36× lebih ringan (8.4 MB vs 307 MB) dan inferensi di bawah 2 ms per frame.</a:t>
            </a:r>
            <a:endParaRPr lang="en-US" sz="1150" dirty="0"/>
          </a:p>
        </p:txBody>
      </p:sp>
      <p:sp>
        <p:nvSpPr>
          <p:cNvPr id="7" name="Text 4"/>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05. HASIL EKSPERIMEN</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Visualisasi Evaluasi Model SVM</a:t>
            </a:r>
            <a:endParaRPr lang="en-US" sz="2500" dirty="0"/>
          </a:p>
        </p:txBody>
      </p:sp>
      <p:sp>
        <p:nvSpPr>
          <p:cNvPr id="4" name="Text 2"/>
          <p:cNvSpPr/>
          <p:nvPr/>
        </p:nvSpPr>
        <p:spPr>
          <a:xfrm>
            <a:off x="822960" y="1600200"/>
            <a:ext cx="4846320" cy="32004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Laporan Klasifikasi per Kelas</a:t>
            </a:r>
            <a:endParaRPr lang="en-US" sz="1250" dirty="0"/>
          </a:p>
        </p:txBody>
      </p:sp>
      <p:pic>
        <p:nvPicPr>
          <p:cNvPr id="5" name="Image 0" descr="Laporan-klasifikasi.png"/>
          <p:cNvPicPr>
            <a:picLocks noChangeAspect="1"/>
          </p:cNvPicPr>
          <p:nvPr/>
        </p:nvPicPr>
        <p:blipFill>
          <a:blip r:embed="rId3"/>
          <a:stretch>
            <a:fillRect/>
          </a:stretch>
        </p:blipFill>
        <p:spPr>
          <a:xfrm>
            <a:off x="822960" y="1965960"/>
            <a:ext cx="4480560" cy="3877056"/>
          </a:xfrm>
          <a:prstGeom prst="rect">
            <a:avLst/>
          </a:prstGeom>
        </p:spPr>
      </p:pic>
      <p:sp>
        <p:nvSpPr>
          <p:cNvPr id="6" name="Shape 3"/>
          <p:cNvSpPr/>
          <p:nvPr/>
        </p:nvSpPr>
        <p:spPr>
          <a:xfrm>
            <a:off x="5623560" y="1600200"/>
            <a:ext cx="0" cy="4343400"/>
          </a:xfrm>
          <a:prstGeom prst="line">
            <a:avLst/>
          </a:prstGeom>
          <a:noFill/>
          <a:ln w="12700">
            <a:solidFill>
              <a:srgbClr val="D9DEE6"/>
            </a:solidFill>
            <a:prstDash val="solid"/>
          </a:ln>
        </p:spPr>
      </p:sp>
      <p:sp>
        <p:nvSpPr>
          <p:cNvPr id="7" name="Text 4"/>
          <p:cNvSpPr/>
          <p:nvPr/>
        </p:nvSpPr>
        <p:spPr>
          <a:xfrm>
            <a:off x="5943600" y="1600200"/>
            <a:ext cx="5486400" cy="32004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Kurva ROC — AUC 0.9945</a:t>
            </a:r>
            <a:endParaRPr lang="en-US" sz="1250" dirty="0"/>
          </a:p>
        </p:txBody>
      </p:sp>
      <p:pic>
        <p:nvPicPr>
          <p:cNvPr id="8" name="Image 1" descr="bukti_roc_curve.png"/>
          <p:cNvPicPr>
            <a:picLocks noChangeAspect="1"/>
          </p:cNvPicPr>
          <p:nvPr/>
        </p:nvPicPr>
        <p:blipFill>
          <a:blip r:embed="rId4"/>
          <a:stretch>
            <a:fillRect/>
          </a:stretch>
        </p:blipFill>
        <p:spPr>
          <a:xfrm>
            <a:off x="6612636" y="1965960"/>
            <a:ext cx="4084320" cy="3063240"/>
          </a:xfrm>
          <a:prstGeom prst="rect">
            <a:avLst/>
          </a:prstGeom>
        </p:spPr>
      </p:pic>
      <p:sp>
        <p:nvSpPr>
          <p:cNvPr id="9" name="Text 5"/>
          <p:cNvSpPr/>
          <p:nvPr/>
        </p:nvSpPr>
        <p:spPr>
          <a:xfrm>
            <a:off x="5943600" y="5166360"/>
            <a:ext cx="5486400" cy="1051560"/>
          </a:xfrm>
          <a:prstGeom prst="rect">
            <a:avLst/>
          </a:prstGeom>
          <a:noFill/>
          <a:ln/>
        </p:spPr>
        <p:txBody>
          <a:bodyPr wrap="square" rtlCol="0" anchor="ctr"/>
          <a:lstStyle/>
          <a:p>
            <a:pPr marL="0" indent="0">
              <a:lnSpc>
                <a:spcPct val="130000"/>
              </a:lnSpc>
              <a:buNone/>
            </a:pPr>
            <a:r>
              <a:rPr lang="en-US" sz="1080" dirty="0">
                <a:solidFill>
                  <a:srgbClr val="5B6472"/>
                </a:solidFill>
                <a:latin typeface="Calibri" pitchFamily="34" charset="0"/>
                <a:ea typeface="Calibri" pitchFamily="34" charset="-122"/>
                <a:cs typeface="Calibri" pitchFamily="34" charset="-120"/>
              </a:rPr>
              <a:t>Kurva mendekati pojok kiri atas dengan AUC 0.9945, membuktikan kemampuan klasifikasi yang sangat andal dan tingkat false positive yang rendah. Confusion matrix SVM juga menunjukkan diagonal utama berwarna pekat, menandakan mayoritas sampel diprediksi tepat sesuai label aslinya.</a:t>
            </a:r>
            <a:endParaRPr lang="en-US" sz="1080" dirty="0"/>
          </a:p>
        </p:txBody>
      </p:sp>
      <p:sp>
        <p:nvSpPr>
          <p:cNvPr id="10" name="Text 6"/>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23B"/>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8B95A6"/>
                </a:solidFill>
                <a:latin typeface="Calibri" pitchFamily="34" charset="0"/>
                <a:ea typeface="Calibri" pitchFamily="34" charset="-122"/>
                <a:cs typeface="Calibri" pitchFamily="34" charset="-120"/>
              </a:rPr>
              <a:t>05. ANALISIS KRITIS</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Mengapa SVM Linear Unggul?</a:t>
            </a:r>
            <a:endParaRPr lang="en-US" sz="2600" dirty="0"/>
          </a:p>
        </p:txBody>
      </p:sp>
      <p:sp>
        <p:nvSpPr>
          <p:cNvPr id="4" name="Text 2"/>
          <p:cNvSpPr/>
          <p:nvPr/>
        </p:nvSpPr>
        <p:spPr>
          <a:xfrm>
            <a:off x="822960" y="1536192"/>
            <a:ext cx="9875520" cy="548640"/>
          </a:xfrm>
          <a:prstGeom prst="rect">
            <a:avLst/>
          </a:prstGeom>
          <a:noFill/>
          <a:ln/>
        </p:spPr>
        <p:txBody>
          <a:bodyPr wrap="square" rtlCol="0" anchor="ctr"/>
          <a:lstStyle/>
          <a:p>
            <a:pPr marL="0" indent="0">
              <a:lnSpc>
                <a:spcPct val="130000"/>
              </a:lnSpc>
              <a:buNone/>
            </a:pPr>
            <a:r>
              <a:rPr lang="en-US" sz="1250" dirty="0">
                <a:solidFill>
                  <a:srgbClr val="B7BFCC"/>
                </a:solidFill>
                <a:latin typeface="Calibri" pitchFamily="34" charset="0"/>
                <a:ea typeface="Calibri" pitchFamily="34" charset="-122"/>
                <a:cs typeface="Calibri" pitchFamily="34" charset="-120"/>
              </a:rPr>
              <a:t>Koordinat tangan hasil ekstraksi MediaPipe terbukti memiliki hubungan geometris linier yang kuat, sehingga hyperplane linier SVM mampu memisahkan 18 kelas gestur secara sangat akurat.</a:t>
            </a:r>
            <a:endParaRPr lang="en-US" sz="1250" dirty="0"/>
          </a:p>
        </p:txBody>
      </p:sp>
      <p:sp>
        <p:nvSpPr>
          <p:cNvPr id="5" name="Text 3"/>
          <p:cNvSpPr/>
          <p:nvPr/>
        </p:nvSpPr>
        <p:spPr>
          <a:xfrm>
            <a:off x="822960" y="2423160"/>
            <a:ext cx="9875520" cy="365760"/>
          </a:xfrm>
          <a:prstGeom prst="rect">
            <a:avLst/>
          </a:prstGeom>
          <a:noFill/>
          <a:ln/>
        </p:spPr>
        <p:txBody>
          <a:bodyPr wrap="square" rtlCol="0" anchor="ctr"/>
          <a:lstStyle/>
          <a:p>
            <a:pPr marL="0" indent="0">
              <a:buNone/>
            </a:pPr>
            <a:r>
              <a:rPr lang="en-US" sz="1450" b="1" dirty="0">
                <a:solidFill>
                  <a:srgbClr val="C9821F"/>
                </a:solidFill>
                <a:latin typeface="Cambria" pitchFamily="34" charset="0"/>
                <a:ea typeface="Cambria" pitchFamily="34" charset="-122"/>
                <a:cs typeface="Cambria" pitchFamily="34" charset="-120"/>
              </a:rPr>
              <a:t>Random Forest mengalami overfitting</a:t>
            </a:r>
            <a:endParaRPr lang="en-US" sz="1450" dirty="0"/>
          </a:p>
        </p:txBody>
      </p:sp>
      <p:sp>
        <p:nvSpPr>
          <p:cNvPr id="6" name="Text 4"/>
          <p:cNvSpPr/>
          <p:nvPr/>
        </p:nvSpPr>
        <p:spPr>
          <a:xfrm>
            <a:off x="822960" y="2807208"/>
            <a:ext cx="9875520" cy="640080"/>
          </a:xfrm>
          <a:prstGeom prst="rect">
            <a:avLst/>
          </a:prstGeom>
          <a:noFill/>
          <a:ln/>
        </p:spPr>
        <p:txBody>
          <a:bodyPr wrap="square" rtlCol="0" anchor="ctr"/>
          <a:lstStyle/>
          <a:p>
            <a:pPr marL="0" indent="0">
              <a:lnSpc>
                <a:spcPct val="130000"/>
              </a:lnSpc>
              <a:buNone/>
            </a:pPr>
            <a:r>
              <a:rPr lang="en-US" sz="1150" dirty="0">
                <a:solidFill>
                  <a:srgbClr val="C3CAD6"/>
                </a:solidFill>
                <a:latin typeface="Calibri" pitchFamily="34" charset="0"/>
                <a:ea typeface="Calibri" pitchFamily="34" charset="-122"/>
                <a:cs typeface="Calibri" pitchFamily="34" charset="-120"/>
              </a:rPr>
              <a:t>Akurasi training 98.5% turun tajam menjadi 82.03% saat testing — pembagian pohon keputusan terlalu kaku untuk data spasial kontinu yang saling berdekatan.</a:t>
            </a:r>
            <a:endParaRPr lang="en-US" sz="1150" dirty="0"/>
          </a:p>
        </p:txBody>
      </p:sp>
      <p:sp>
        <p:nvSpPr>
          <p:cNvPr id="7" name="Shape 5"/>
          <p:cNvSpPr/>
          <p:nvPr/>
        </p:nvSpPr>
        <p:spPr>
          <a:xfrm>
            <a:off x="822960" y="3520440"/>
            <a:ext cx="9875520" cy="0"/>
          </a:xfrm>
          <a:prstGeom prst="line">
            <a:avLst/>
          </a:prstGeom>
          <a:noFill/>
          <a:ln w="9525">
            <a:solidFill>
              <a:srgbClr val="263250"/>
            </a:solidFill>
            <a:prstDash val="solid"/>
          </a:ln>
        </p:spPr>
      </p:sp>
      <p:sp>
        <p:nvSpPr>
          <p:cNvPr id="8" name="Text 6"/>
          <p:cNvSpPr/>
          <p:nvPr/>
        </p:nvSpPr>
        <p:spPr>
          <a:xfrm>
            <a:off x="822960" y="3721608"/>
            <a:ext cx="9875520" cy="365760"/>
          </a:xfrm>
          <a:prstGeom prst="rect">
            <a:avLst/>
          </a:prstGeom>
          <a:noFill/>
          <a:ln/>
        </p:spPr>
        <p:txBody>
          <a:bodyPr wrap="square" rtlCol="0" anchor="ctr"/>
          <a:lstStyle/>
          <a:p>
            <a:pPr marL="0" indent="0">
              <a:buNone/>
            </a:pPr>
            <a:r>
              <a:rPr lang="en-US" sz="1450" b="1" dirty="0">
                <a:solidFill>
                  <a:srgbClr val="C9821F"/>
                </a:solidFill>
                <a:latin typeface="Cambria" pitchFamily="34" charset="0"/>
                <a:ea typeface="Cambria" pitchFamily="34" charset="-122"/>
                <a:cs typeface="Cambria" pitchFamily="34" charset="-120"/>
              </a:rPr>
              <a:t>Efisiensi penyimpanan</a:t>
            </a:r>
            <a:endParaRPr lang="en-US" sz="1450" dirty="0"/>
          </a:p>
        </p:txBody>
      </p:sp>
      <p:sp>
        <p:nvSpPr>
          <p:cNvPr id="9" name="Text 7"/>
          <p:cNvSpPr/>
          <p:nvPr/>
        </p:nvSpPr>
        <p:spPr>
          <a:xfrm>
            <a:off x="822960" y="4105656"/>
            <a:ext cx="9875520" cy="640080"/>
          </a:xfrm>
          <a:prstGeom prst="rect">
            <a:avLst/>
          </a:prstGeom>
          <a:noFill/>
          <a:ln/>
        </p:spPr>
        <p:txBody>
          <a:bodyPr wrap="square" rtlCol="0" anchor="ctr"/>
          <a:lstStyle/>
          <a:p>
            <a:pPr marL="0" indent="0">
              <a:lnSpc>
                <a:spcPct val="130000"/>
              </a:lnSpc>
              <a:buNone/>
            </a:pPr>
            <a:r>
              <a:rPr lang="en-US" sz="1150" dirty="0">
                <a:solidFill>
                  <a:srgbClr val="C3CAD6"/>
                </a:solidFill>
                <a:latin typeface="Calibri" pitchFamily="34" charset="0"/>
                <a:ea typeface="Calibri" pitchFamily="34" charset="-122"/>
                <a:cs typeface="Calibri" pitchFamily="34" charset="-120"/>
              </a:rPr>
              <a:t>Model SVM hanya berukuran 8.4 MB dibanding Random Forest yang mencapai 307 MB — jauh lebih hemat untuk deployment di edge device.</a:t>
            </a:r>
            <a:endParaRPr lang="en-US" sz="1150" dirty="0"/>
          </a:p>
        </p:txBody>
      </p:sp>
      <p:sp>
        <p:nvSpPr>
          <p:cNvPr id="10" name="Shape 8"/>
          <p:cNvSpPr/>
          <p:nvPr/>
        </p:nvSpPr>
        <p:spPr>
          <a:xfrm>
            <a:off x="822960" y="4818888"/>
            <a:ext cx="9875520" cy="0"/>
          </a:xfrm>
          <a:prstGeom prst="line">
            <a:avLst/>
          </a:prstGeom>
          <a:noFill/>
          <a:ln w="9525">
            <a:solidFill>
              <a:srgbClr val="263250"/>
            </a:solidFill>
            <a:prstDash val="solid"/>
          </a:ln>
        </p:spPr>
      </p:sp>
      <p:sp>
        <p:nvSpPr>
          <p:cNvPr id="11" name="Text 9"/>
          <p:cNvSpPr/>
          <p:nvPr/>
        </p:nvSpPr>
        <p:spPr>
          <a:xfrm>
            <a:off x="822960" y="5020056"/>
            <a:ext cx="9875520" cy="365760"/>
          </a:xfrm>
          <a:prstGeom prst="rect">
            <a:avLst/>
          </a:prstGeom>
          <a:noFill/>
          <a:ln/>
        </p:spPr>
        <p:txBody>
          <a:bodyPr wrap="square" rtlCol="0" anchor="ctr"/>
          <a:lstStyle/>
          <a:p>
            <a:pPr marL="0" indent="0">
              <a:buNone/>
            </a:pPr>
            <a:r>
              <a:rPr lang="en-US" sz="1450" b="1" dirty="0">
                <a:solidFill>
                  <a:srgbClr val="C9821F"/>
                </a:solidFill>
                <a:latin typeface="Cambria" pitchFamily="34" charset="0"/>
                <a:ea typeface="Cambria" pitchFamily="34" charset="-122"/>
                <a:cs typeface="Cambria" pitchFamily="34" charset="-120"/>
              </a:rPr>
              <a:t>Kecepatan inferensi</a:t>
            </a:r>
            <a:endParaRPr lang="en-US" sz="1450" dirty="0"/>
          </a:p>
        </p:txBody>
      </p:sp>
      <p:sp>
        <p:nvSpPr>
          <p:cNvPr id="12" name="Text 10"/>
          <p:cNvSpPr/>
          <p:nvPr/>
        </p:nvSpPr>
        <p:spPr>
          <a:xfrm>
            <a:off x="822960" y="5404104"/>
            <a:ext cx="9875520" cy="640080"/>
          </a:xfrm>
          <a:prstGeom prst="rect">
            <a:avLst/>
          </a:prstGeom>
          <a:noFill/>
          <a:ln/>
        </p:spPr>
        <p:txBody>
          <a:bodyPr wrap="square" rtlCol="0" anchor="ctr"/>
          <a:lstStyle/>
          <a:p>
            <a:pPr marL="0" indent="0">
              <a:lnSpc>
                <a:spcPct val="130000"/>
              </a:lnSpc>
              <a:buNone/>
            </a:pPr>
            <a:r>
              <a:rPr lang="en-US" sz="1150" dirty="0">
                <a:solidFill>
                  <a:srgbClr val="C3CAD6"/>
                </a:solidFill>
                <a:latin typeface="Calibri" pitchFamily="34" charset="0"/>
                <a:ea typeface="Calibri" pitchFamily="34" charset="-122"/>
                <a:cs typeface="Calibri" pitchFamily="34" charset="-120"/>
              </a:rPr>
              <a:t>SVM sangat cepat melakukan prediksi (kurang dari 2 ms per frame), meskipun waktu training-nya lebih lama (≈ 32 menit).</a:t>
            </a:r>
            <a:endParaRPr lang="en-US" sz="1150" dirty="0"/>
          </a:p>
        </p:txBody>
      </p:sp>
      <p:sp>
        <p:nvSpPr>
          <p:cNvPr id="13" name="Text 11"/>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6B768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06. EXPLAINABLE AI</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Interpretasi Model dengan SHAP</a:t>
            </a:r>
            <a:endParaRPr lang="en-US" sz="2500" dirty="0"/>
          </a:p>
        </p:txBody>
      </p:sp>
      <p:sp>
        <p:nvSpPr>
          <p:cNvPr id="4" name="Text 2"/>
          <p:cNvSpPr/>
          <p:nvPr/>
        </p:nvSpPr>
        <p:spPr>
          <a:xfrm>
            <a:off x="822960" y="1508760"/>
            <a:ext cx="5486400" cy="685800"/>
          </a:xfrm>
          <a:prstGeom prst="rect">
            <a:avLst/>
          </a:prstGeom>
          <a:noFill/>
          <a:ln/>
        </p:spPr>
        <p:txBody>
          <a:bodyPr wrap="square" rtlCol="0" anchor="ctr"/>
          <a:lstStyle/>
          <a:p>
            <a:pPr marL="0" indent="0">
              <a:lnSpc>
                <a:spcPct val="130000"/>
              </a:lnSpc>
              <a:buNone/>
            </a:pPr>
            <a:r>
              <a:rPr lang="en-US" sz="1150" dirty="0">
                <a:solidFill>
                  <a:srgbClr val="5B6472"/>
                </a:solidFill>
                <a:latin typeface="Calibri" pitchFamily="34" charset="0"/>
                <a:ea typeface="Calibri" pitchFamily="34" charset="-122"/>
                <a:cs typeface="Calibri" pitchFamily="34" charset="-120"/>
              </a:rPr>
              <a:t>SHAP (SHapley Additive exPlanations) mengungkap kontribusi marjinal tiap koordinat landmark terhadap keputusan klasifikasi — mengubah model black-box menjadi lebih transparan.</a:t>
            </a:r>
            <a:endParaRPr lang="en-US" sz="1150" dirty="0"/>
          </a:p>
        </p:txBody>
      </p:sp>
      <p:sp>
        <p:nvSpPr>
          <p:cNvPr id="5" name="Text 3"/>
          <p:cNvSpPr/>
          <p:nvPr/>
        </p:nvSpPr>
        <p:spPr>
          <a:xfrm>
            <a:off x="822960" y="2377440"/>
            <a:ext cx="548640" cy="320040"/>
          </a:xfrm>
          <a:prstGeom prst="rect">
            <a:avLst/>
          </a:prstGeom>
          <a:noFill/>
          <a:ln/>
        </p:spPr>
        <p:txBody>
          <a:bodyPr wrap="square" rtlCol="0" anchor="ctr"/>
          <a:lstStyle/>
          <a:p>
            <a:pPr marL="0" indent="0">
              <a:buNone/>
            </a:pPr>
            <a:r>
              <a:rPr lang="en-US" sz="1400" b="1" dirty="0">
                <a:solidFill>
                  <a:srgbClr val="C9821F"/>
                </a:solidFill>
                <a:latin typeface="Cambria" pitchFamily="34" charset="0"/>
                <a:ea typeface="Cambria" pitchFamily="34" charset="-122"/>
                <a:cs typeface="Cambria" pitchFamily="34" charset="-120"/>
              </a:rPr>
              <a:t>01</a:t>
            </a:r>
            <a:endParaRPr lang="en-US" sz="1400" dirty="0"/>
          </a:p>
        </p:txBody>
      </p:sp>
      <p:sp>
        <p:nvSpPr>
          <p:cNvPr id="6" name="Text 4"/>
          <p:cNvSpPr/>
          <p:nvPr/>
        </p:nvSpPr>
        <p:spPr>
          <a:xfrm>
            <a:off x="1371600" y="2359152"/>
            <a:ext cx="4937760" cy="320040"/>
          </a:xfrm>
          <a:prstGeom prst="rect">
            <a:avLst/>
          </a:prstGeom>
          <a:noFill/>
          <a:ln/>
        </p:spPr>
        <p:txBody>
          <a:bodyPr wrap="square" rtlCol="0" anchor="ctr"/>
          <a:lstStyle/>
          <a:p>
            <a:pPr marL="0" indent="0">
              <a:buNone/>
            </a:pPr>
            <a:r>
              <a:rPr lang="en-US" sz="1200" b="1" dirty="0">
                <a:solidFill>
                  <a:srgbClr val="1E2530"/>
                </a:solidFill>
                <a:latin typeface="Calibri" pitchFamily="34" charset="0"/>
                <a:ea typeface="Calibri" pitchFamily="34" charset="-122"/>
                <a:cs typeface="Calibri" pitchFamily="34" charset="-120"/>
              </a:rPr>
              <a:t>Fitur kunci sumbu Y</a:t>
            </a:r>
            <a:endParaRPr lang="en-US" sz="1200" dirty="0"/>
          </a:p>
        </p:txBody>
      </p:sp>
      <p:sp>
        <p:nvSpPr>
          <p:cNvPr id="7" name="Text 5"/>
          <p:cNvSpPr/>
          <p:nvPr/>
        </p:nvSpPr>
        <p:spPr>
          <a:xfrm>
            <a:off x="1371600" y="2688336"/>
            <a:ext cx="4937760" cy="777240"/>
          </a:xfrm>
          <a:prstGeom prst="rect">
            <a:avLst/>
          </a:prstGeom>
          <a:noFill/>
          <a:ln/>
        </p:spPr>
        <p:txBody>
          <a:bodyPr wrap="square" rtlCol="0" anchor="ctr"/>
          <a:lstStyle/>
          <a:p>
            <a:pPr marL="0" indent="0">
              <a:lnSpc>
                <a:spcPct val="130000"/>
              </a:lnSpc>
              <a:buNone/>
            </a:pPr>
            <a:r>
              <a:rPr lang="en-US" sz="1050" dirty="0">
                <a:solidFill>
                  <a:srgbClr val="5B6472"/>
                </a:solidFill>
                <a:latin typeface="Calibri" pitchFamily="34" charset="0"/>
                <a:ea typeface="Calibri" pitchFamily="34" charset="-122"/>
                <a:cs typeface="Calibri" pitchFamily="34" charset="-120"/>
              </a:rPr>
              <a:t>Koordinat Y (y8, y12, y16) memiliki dampak SHAP tertinggi — logis karena menekuk atau menegakkan jari diukur secara vertikal.</a:t>
            </a:r>
            <a:endParaRPr lang="en-US" sz="1050" dirty="0"/>
          </a:p>
        </p:txBody>
      </p:sp>
      <p:sp>
        <p:nvSpPr>
          <p:cNvPr id="8" name="Text 6"/>
          <p:cNvSpPr/>
          <p:nvPr/>
        </p:nvSpPr>
        <p:spPr>
          <a:xfrm>
            <a:off x="822960" y="3520440"/>
            <a:ext cx="548640" cy="320040"/>
          </a:xfrm>
          <a:prstGeom prst="rect">
            <a:avLst/>
          </a:prstGeom>
          <a:noFill/>
          <a:ln/>
        </p:spPr>
        <p:txBody>
          <a:bodyPr wrap="square" rtlCol="0" anchor="ctr"/>
          <a:lstStyle/>
          <a:p>
            <a:pPr marL="0" indent="0">
              <a:buNone/>
            </a:pPr>
            <a:r>
              <a:rPr lang="en-US" sz="1400" b="1" dirty="0">
                <a:solidFill>
                  <a:srgbClr val="C9821F"/>
                </a:solidFill>
                <a:latin typeface="Cambria" pitchFamily="34" charset="0"/>
                <a:ea typeface="Cambria" pitchFamily="34" charset="-122"/>
                <a:cs typeface="Cambria" pitchFamily="34" charset="-120"/>
              </a:rPr>
              <a:t>02</a:t>
            </a:r>
            <a:endParaRPr lang="en-US" sz="1400" dirty="0"/>
          </a:p>
        </p:txBody>
      </p:sp>
      <p:sp>
        <p:nvSpPr>
          <p:cNvPr id="9" name="Text 7"/>
          <p:cNvSpPr/>
          <p:nvPr/>
        </p:nvSpPr>
        <p:spPr>
          <a:xfrm>
            <a:off x="1371600" y="3502152"/>
            <a:ext cx="4937760" cy="320040"/>
          </a:xfrm>
          <a:prstGeom prst="rect">
            <a:avLst/>
          </a:prstGeom>
          <a:noFill/>
          <a:ln/>
        </p:spPr>
        <p:txBody>
          <a:bodyPr wrap="square" rtlCol="0" anchor="ctr"/>
          <a:lstStyle/>
          <a:p>
            <a:pPr marL="0" indent="0">
              <a:buNone/>
            </a:pPr>
            <a:r>
              <a:rPr lang="en-US" sz="1200" b="1" dirty="0">
                <a:solidFill>
                  <a:srgbClr val="1E2530"/>
                </a:solidFill>
                <a:latin typeface="Calibri" pitchFamily="34" charset="0"/>
                <a:ea typeface="Calibri" pitchFamily="34" charset="-122"/>
                <a:cs typeface="Calibri" pitchFamily="34" charset="-120"/>
              </a:rPr>
              <a:t>Gestur “peace”</a:t>
            </a:r>
            <a:endParaRPr lang="en-US" sz="1200" dirty="0"/>
          </a:p>
        </p:txBody>
      </p:sp>
      <p:sp>
        <p:nvSpPr>
          <p:cNvPr id="10" name="Text 8"/>
          <p:cNvSpPr/>
          <p:nvPr/>
        </p:nvSpPr>
        <p:spPr>
          <a:xfrm>
            <a:off x="1371600" y="3831336"/>
            <a:ext cx="4937760" cy="777240"/>
          </a:xfrm>
          <a:prstGeom prst="rect">
            <a:avLst/>
          </a:prstGeom>
          <a:noFill/>
          <a:ln/>
        </p:spPr>
        <p:txBody>
          <a:bodyPr wrap="square" rtlCol="0" anchor="ctr"/>
          <a:lstStyle/>
          <a:p>
            <a:pPr marL="0" indent="0">
              <a:lnSpc>
                <a:spcPct val="130000"/>
              </a:lnSpc>
              <a:buNone/>
            </a:pPr>
            <a:r>
              <a:rPr lang="en-US" sz="1050" dirty="0">
                <a:solidFill>
                  <a:srgbClr val="5B6472"/>
                </a:solidFill>
                <a:latin typeface="Calibri" pitchFamily="34" charset="0"/>
                <a:ea typeface="Calibri" pitchFamily="34" charset="-122"/>
                <a:cs typeface="Calibri" pitchFamily="34" charset="-120"/>
              </a:rPr>
              <a:t>y8 (ujung telunjuk) dan y12 (ujung jari tengah) memiliki nilai SHAP positif terbesar saat kedua jari terangkat.</a:t>
            </a:r>
            <a:endParaRPr lang="en-US" sz="1050" dirty="0"/>
          </a:p>
        </p:txBody>
      </p:sp>
      <p:sp>
        <p:nvSpPr>
          <p:cNvPr id="11" name="Text 9"/>
          <p:cNvSpPr/>
          <p:nvPr/>
        </p:nvSpPr>
        <p:spPr>
          <a:xfrm>
            <a:off x="822960" y="4663440"/>
            <a:ext cx="548640" cy="320040"/>
          </a:xfrm>
          <a:prstGeom prst="rect">
            <a:avLst/>
          </a:prstGeom>
          <a:noFill/>
          <a:ln/>
        </p:spPr>
        <p:txBody>
          <a:bodyPr wrap="square" rtlCol="0" anchor="ctr"/>
          <a:lstStyle/>
          <a:p>
            <a:pPr marL="0" indent="0">
              <a:buNone/>
            </a:pPr>
            <a:r>
              <a:rPr lang="en-US" sz="1400" b="1" dirty="0">
                <a:solidFill>
                  <a:srgbClr val="C9821F"/>
                </a:solidFill>
                <a:latin typeface="Cambria" pitchFamily="34" charset="0"/>
                <a:ea typeface="Cambria" pitchFamily="34" charset="-122"/>
                <a:cs typeface="Cambria" pitchFamily="34" charset="-120"/>
              </a:rPr>
              <a:t>03</a:t>
            </a:r>
            <a:endParaRPr lang="en-US" sz="1400" dirty="0"/>
          </a:p>
        </p:txBody>
      </p:sp>
      <p:sp>
        <p:nvSpPr>
          <p:cNvPr id="12" name="Text 10"/>
          <p:cNvSpPr/>
          <p:nvPr/>
        </p:nvSpPr>
        <p:spPr>
          <a:xfrm>
            <a:off x="1371600" y="4645152"/>
            <a:ext cx="4937760" cy="320040"/>
          </a:xfrm>
          <a:prstGeom prst="rect">
            <a:avLst/>
          </a:prstGeom>
          <a:noFill/>
          <a:ln/>
        </p:spPr>
        <p:txBody>
          <a:bodyPr wrap="square" rtlCol="0" anchor="ctr"/>
          <a:lstStyle/>
          <a:p>
            <a:pPr marL="0" indent="0">
              <a:buNone/>
            </a:pPr>
            <a:r>
              <a:rPr lang="en-US" sz="1200" b="1" dirty="0">
                <a:solidFill>
                  <a:srgbClr val="1E2530"/>
                </a:solidFill>
                <a:latin typeface="Calibri" pitchFamily="34" charset="0"/>
                <a:ea typeface="Calibri" pitchFamily="34" charset="-122"/>
                <a:cs typeface="Calibri" pitchFamily="34" charset="-120"/>
              </a:rPr>
              <a:t>Jari dominan</a:t>
            </a:r>
            <a:endParaRPr lang="en-US" sz="1200" dirty="0"/>
          </a:p>
        </p:txBody>
      </p:sp>
      <p:sp>
        <p:nvSpPr>
          <p:cNvPr id="13" name="Text 11"/>
          <p:cNvSpPr/>
          <p:nvPr/>
        </p:nvSpPr>
        <p:spPr>
          <a:xfrm>
            <a:off x="1371600" y="4974336"/>
            <a:ext cx="4937760" cy="777240"/>
          </a:xfrm>
          <a:prstGeom prst="rect">
            <a:avLst/>
          </a:prstGeom>
          <a:noFill/>
          <a:ln/>
        </p:spPr>
        <p:txBody>
          <a:bodyPr wrap="square" rtlCol="0" anchor="ctr"/>
          <a:lstStyle/>
          <a:p>
            <a:pPr marL="0" indent="0">
              <a:lnSpc>
                <a:spcPct val="130000"/>
              </a:lnSpc>
              <a:buNone/>
            </a:pPr>
            <a:r>
              <a:rPr lang="en-US" sz="1050" dirty="0">
                <a:solidFill>
                  <a:srgbClr val="5B6472"/>
                </a:solidFill>
                <a:latin typeface="Calibri" pitchFamily="34" charset="0"/>
                <a:ea typeface="Calibri" pitchFamily="34" charset="-122"/>
                <a:cs typeface="Calibri" pitchFamily="34" charset="-120"/>
              </a:rPr>
              <a:t>Telunjuk (x8, y8), jari tengah (x12, y12), dan ibu jari (x4, y4) paling berpengaruh pada gestur peace dan two_up_inverted.</a:t>
            </a:r>
            <a:endParaRPr lang="en-US" sz="1050" dirty="0"/>
          </a:p>
        </p:txBody>
      </p:sp>
      <p:sp>
        <p:nvSpPr>
          <p:cNvPr id="14" name="Shape 12"/>
          <p:cNvSpPr/>
          <p:nvPr/>
        </p:nvSpPr>
        <p:spPr>
          <a:xfrm>
            <a:off x="6629400" y="1508760"/>
            <a:ext cx="0" cy="4572000"/>
          </a:xfrm>
          <a:prstGeom prst="line">
            <a:avLst/>
          </a:prstGeom>
          <a:noFill/>
          <a:ln w="12700">
            <a:solidFill>
              <a:srgbClr val="D9DEE6"/>
            </a:solidFill>
            <a:prstDash val="solid"/>
          </a:ln>
        </p:spPr>
      </p:sp>
      <p:sp>
        <p:nvSpPr>
          <p:cNvPr id="15" name="Text 13"/>
          <p:cNvSpPr/>
          <p:nvPr/>
        </p:nvSpPr>
        <p:spPr>
          <a:xfrm>
            <a:off x="6903720" y="1600200"/>
            <a:ext cx="4114800" cy="320040"/>
          </a:xfrm>
          <a:prstGeom prst="rect">
            <a:avLst/>
          </a:prstGeom>
          <a:noFill/>
          <a:ln/>
        </p:spPr>
        <p:txBody>
          <a:bodyPr wrap="square" rtlCol="0" anchor="ctr"/>
          <a:lstStyle/>
          <a:p>
            <a:pPr marL="0" indent="0">
              <a:buNone/>
            </a:pPr>
            <a:r>
              <a:rPr lang="en-US" sz="1250" b="1" dirty="0">
                <a:solidFill>
                  <a:srgbClr val="1E2530"/>
                </a:solidFill>
                <a:latin typeface="Calibri" pitchFamily="34" charset="0"/>
                <a:ea typeface="Calibri" pitchFamily="34" charset="-122"/>
                <a:cs typeface="Calibri" pitchFamily="34" charset="-120"/>
              </a:rPr>
              <a:t>SHAP Summary Plot</a:t>
            </a:r>
            <a:endParaRPr lang="en-US" sz="1250" dirty="0"/>
          </a:p>
        </p:txBody>
      </p:sp>
      <p:pic>
        <p:nvPicPr>
          <p:cNvPr id="16" name="Image 0" descr="shap_summary.png"/>
          <p:cNvPicPr>
            <a:picLocks noChangeAspect="1"/>
          </p:cNvPicPr>
          <p:nvPr/>
        </p:nvPicPr>
        <p:blipFill>
          <a:blip r:embed="rId3"/>
          <a:stretch>
            <a:fillRect/>
          </a:stretch>
        </p:blipFill>
        <p:spPr>
          <a:xfrm>
            <a:off x="7541394" y="1965960"/>
            <a:ext cx="3388093" cy="4023360"/>
          </a:xfrm>
          <a:prstGeom prst="rect">
            <a:avLst/>
          </a:prstGeom>
        </p:spPr>
      </p:pic>
      <p:sp>
        <p:nvSpPr>
          <p:cNvPr id="17" name="Text 14"/>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07. DEPLOYMENT</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Implementasi Aplikasi Smart Home</a:t>
            </a:r>
            <a:endParaRPr lang="en-US" sz="2500" dirty="0"/>
          </a:p>
        </p:txBody>
      </p:sp>
      <p:sp>
        <p:nvSpPr>
          <p:cNvPr id="4" name="Text 2"/>
          <p:cNvSpPr/>
          <p:nvPr/>
        </p:nvSpPr>
        <p:spPr>
          <a:xfrm>
            <a:off x="822960" y="1508760"/>
            <a:ext cx="10241280" cy="457200"/>
          </a:xfrm>
          <a:prstGeom prst="rect">
            <a:avLst/>
          </a:prstGeom>
          <a:noFill/>
          <a:ln/>
        </p:spPr>
        <p:txBody>
          <a:bodyPr wrap="square" rtlCol="0" anchor="ctr"/>
          <a:lstStyle/>
          <a:p>
            <a:pPr marL="0" indent="0">
              <a:lnSpc>
                <a:spcPct val="130000"/>
              </a:lnSpc>
              <a:buNone/>
            </a:pPr>
            <a:r>
              <a:rPr lang="en-US" sz="1200" dirty="0">
                <a:solidFill>
                  <a:srgbClr val="5B6472"/>
                </a:solidFill>
                <a:latin typeface="Calibri" pitchFamily="34" charset="0"/>
                <a:ea typeface="Calibri" pitchFamily="34" charset="-122"/>
                <a:cs typeface="Calibri" pitchFamily="34" charset="-120"/>
              </a:rPr>
              <a:t>Model SVM terbaik disebarkan ke dua aplikasi web: Flask untuk kontrol saklar real-time via webcam, dan Streamlit sebagai dashboard analitis serta demo interaktif.</a:t>
            </a:r>
            <a:endParaRPr lang="en-US" sz="1200" dirty="0"/>
          </a:p>
        </p:txBody>
      </p:sp>
      <p:sp>
        <p:nvSpPr>
          <p:cNvPr id="5" name="Text 3"/>
          <p:cNvSpPr/>
          <p:nvPr/>
        </p:nvSpPr>
        <p:spPr>
          <a:xfrm>
            <a:off x="822960" y="2148840"/>
            <a:ext cx="5029200" cy="320040"/>
          </a:xfrm>
          <a:prstGeom prst="rect">
            <a:avLst/>
          </a:prstGeom>
          <a:noFill/>
          <a:ln/>
        </p:spPr>
        <p:txBody>
          <a:bodyPr wrap="square" rtlCol="0" anchor="ctr"/>
          <a:lstStyle/>
          <a:p>
            <a:pPr marL="0" indent="0">
              <a:buNone/>
            </a:pPr>
            <a:r>
              <a:rPr lang="en-US" sz="1450" b="1" dirty="0">
                <a:solidFill>
                  <a:srgbClr val="1E2530"/>
                </a:solidFill>
                <a:latin typeface="Cambria" pitchFamily="34" charset="0"/>
                <a:ea typeface="Cambria" pitchFamily="34" charset="-122"/>
                <a:cs typeface="Cambria" pitchFamily="34" charset="-120"/>
              </a:rPr>
              <a:t>FLASK — Saklar Lampu Real-Time</a:t>
            </a:r>
            <a:endParaRPr lang="en-US" sz="1450" dirty="0"/>
          </a:p>
        </p:txBody>
      </p:sp>
      <p:pic>
        <p:nvPicPr>
          <p:cNvPr id="6" name="Image 0" descr="gesture-thumb-up-on.jpeg"/>
          <p:cNvPicPr>
            <a:picLocks noChangeAspect="1"/>
          </p:cNvPicPr>
          <p:nvPr/>
        </p:nvPicPr>
        <p:blipFill>
          <a:blip r:embed="rId3"/>
          <a:stretch>
            <a:fillRect/>
          </a:stretch>
        </p:blipFill>
        <p:spPr>
          <a:xfrm>
            <a:off x="2539426" y="2560320"/>
            <a:ext cx="1596268" cy="3017520"/>
          </a:xfrm>
          <a:prstGeom prst="rect">
            <a:avLst/>
          </a:prstGeom>
        </p:spPr>
      </p:pic>
      <p:sp>
        <p:nvSpPr>
          <p:cNvPr id="7" name="Text 4"/>
          <p:cNvSpPr/>
          <p:nvPr/>
        </p:nvSpPr>
        <p:spPr>
          <a:xfrm>
            <a:off x="822960" y="5715000"/>
            <a:ext cx="5029200" cy="548640"/>
          </a:xfrm>
          <a:prstGeom prst="rect">
            <a:avLst/>
          </a:prstGeom>
          <a:noFill/>
          <a:ln/>
        </p:spPr>
        <p:txBody>
          <a:bodyPr wrap="square" rtlCol="0" anchor="ctr"/>
          <a:lstStyle/>
          <a:p>
            <a:pPr marL="0" indent="0">
              <a:lnSpc>
                <a:spcPct val="125000"/>
              </a:lnSpc>
              <a:buNone/>
            </a:pPr>
            <a:r>
              <a:rPr lang="en-US" sz="1000" dirty="0">
                <a:solidFill>
                  <a:srgbClr val="5B6472"/>
                </a:solidFill>
                <a:latin typeface="Calibri" pitchFamily="34" charset="0"/>
                <a:ea typeface="Calibri" pitchFamily="34" charset="-122"/>
                <a:cs typeface="Calibri" pitchFamily="34" charset="-120"/>
              </a:rPr>
              <a:t>Kontrol saklar lampu di tiga ruangan (dapur, ruang tamu, kamar) melalui gestur tangan langsung dari webcam.</a:t>
            </a:r>
            <a:endParaRPr lang="en-US" sz="1000" dirty="0"/>
          </a:p>
        </p:txBody>
      </p:sp>
      <p:sp>
        <p:nvSpPr>
          <p:cNvPr id="8" name="Shape 5"/>
          <p:cNvSpPr/>
          <p:nvPr/>
        </p:nvSpPr>
        <p:spPr>
          <a:xfrm>
            <a:off x="6263640" y="2148840"/>
            <a:ext cx="0" cy="3977640"/>
          </a:xfrm>
          <a:prstGeom prst="line">
            <a:avLst/>
          </a:prstGeom>
          <a:noFill/>
          <a:ln w="12700">
            <a:solidFill>
              <a:srgbClr val="D9DEE6"/>
            </a:solidFill>
            <a:prstDash val="solid"/>
          </a:ln>
        </p:spPr>
      </p:sp>
      <p:sp>
        <p:nvSpPr>
          <p:cNvPr id="9" name="Text 6"/>
          <p:cNvSpPr/>
          <p:nvPr/>
        </p:nvSpPr>
        <p:spPr>
          <a:xfrm>
            <a:off x="6537960" y="2148840"/>
            <a:ext cx="4937760" cy="320040"/>
          </a:xfrm>
          <a:prstGeom prst="rect">
            <a:avLst/>
          </a:prstGeom>
          <a:noFill/>
          <a:ln/>
        </p:spPr>
        <p:txBody>
          <a:bodyPr wrap="square" rtlCol="0" anchor="ctr"/>
          <a:lstStyle/>
          <a:p>
            <a:pPr marL="0" indent="0">
              <a:buNone/>
            </a:pPr>
            <a:r>
              <a:rPr lang="en-US" sz="1450" b="1" dirty="0">
                <a:solidFill>
                  <a:srgbClr val="1E2530"/>
                </a:solidFill>
                <a:latin typeface="Cambria" pitchFamily="34" charset="0"/>
                <a:ea typeface="Cambria" pitchFamily="34" charset="-122"/>
                <a:cs typeface="Cambria" pitchFamily="34" charset="-120"/>
              </a:rPr>
              <a:t>STREAMLIT — Dashboard Analitis &amp; Demo</a:t>
            </a:r>
            <a:endParaRPr lang="en-US" sz="1450" dirty="0"/>
          </a:p>
        </p:txBody>
      </p:sp>
      <p:sp>
        <p:nvSpPr>
          <p:cNvPr id="11" name="Text 7"/>
          <p:cNvSpPr/>
          <p:nvPr/>
        </p:nvSpPr>
        <p:spPr>
          <a:xfrm>
            <a:off x="6537960" y="5715000"/>
            <a:ext cx="4937760" cy="548640"/>
          </a:xfrm>
          <a:prstGeom prst="rect">
            <a:avLst/>
          </a:prstGeom>
          <a:noFill/>
          <a:ln/>
        </p:spPr>
        <p:txBody>
          <a:bodyPr wrap="square" rtlCol="0" anchor="ctr"/>
          <a:lstStyle/>
          <a:p>
            <a:pPr marL="0" indent="0">
              <a:lnSpc>
                <a:spcPct val="125000"/>
              </a:lnSpc>
              <a:buNone/>
            </a:pPr>
            <a:r>
              <a:rPr lang="en-US" sz="1000" dirty="0">
                <a:solidFill>
                  <a:srgbClr val="5B6472"/>
                </a:solidFill>
                <a:latin typeface="Calibri" pitchFamily="34" charset="0"/>
                <a:ea typeface="Calibri" pitchFamily="34" charset="-122"/>
                <a:cs typeface="Calibri" pitchFamily="34" charset="-120"/>
              </a:rPr>
              <a:t>Memuat EDA, demo prediksi kamera statis, metrik evaluasi (confusion matrix, ROC), serta interpretasi SHAP.</a:t>
            </a:r>
            <a:endParaRPr lang="en-US" sz="1000" dirty="0"/>
          </a:p>
        </p:txBody>
      </p:sp>
      <p:sp>
        <p:nvSpPr>
          <p:cNvPr id="12" name="Text 8"/>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11</a:t>
            </a:r>
            <a:endParaRPr lang="en-US" sz="900" dirty="0"/>
          </a:p>
        </p:txBody>
      </p:sp>
      <p:pic>
        <p:nvPicPr>
          <p:cNvPr id="14" name="Picture 13">
            <a:extLst>
              <a:ext uri="{FF2B5EF4-FFF2-40B4-BE49-F238E27FC236}">
                <a16:creationId xmlns:a16="http://schemas.microsoft.com/office/drawing/2014/main" id="{60150C62-4CAE-6862-0D67-28F8CBD03956}"/>
              </a:ext>
            </a:extLst>
          </p:cNvPr>
          <p:cNvPicPr>
            <a:picLocks noChangeAspect="1"/>
          </p:cNvPicPr>
          <p:nvPr/>
        </p:nvPicPr>
        <p:blipFill>
          <a:blip r:embed="rId4"/>
          <a:stretch>
            <a:fillRect/>
          </a:stretch>
        </p:blipFill>
        <p:spPr>
          <a:xfrm>
            <a:off x="6628976" y="2658979"/>
            <a:ext cx="4755727" cy="23630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08. KESIMPULAN</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Kesimpulan Penelitian</a:t>
            </a:r>
            <a:endParaRPr lang="en-US" sz="2500" dirty="0"/>
          </a:p>
        </p:txBody>
      </p:sp>
      <p:sp>
        <p:nvSpPr>
          <p:cNvPr id="4" name="Text 2"/>
          <p:cNvSpPr/>
          <p:nvPr/>
        </p:nvSpPr>
        <p:spPr>
          <a:xfrm>
            <a:off x="822960" y="1783080"/>
            <a:ext cx="640080" cy="822960"/>
          </a:xfrm>
          <a:prstGeom prst="rect">
            <a:avLst/>
          </a:prstGeom>
          <a:noFill/>
          <a:ln/>
        </p:spPr>
        <p:txBody>
          <a:bodyPr wrap="square" rtlCol="0" anchor="ctr"/>
          <a:lstStyle/>
          <a:p>
            <a:pPr marL="0" indent="0">
              <a:buNone/>
            </a:pPr>
            <a:r>
              <a:rPr lang="en-US" sz="2200" b="1" dirty="0">
                <a:solidFill>
                  <a:srgbClr val="D9DEE6"/>
                </a:solidFill>
                <a:latin typeface="Cambria" pitchFamily="34" charset="0"/>
                <a:ea typeface="Cambria" pitchFamily="34" charset="-122"/>
                <a:cs typeface="Cambria" pitchFamily="34" charset="-120"/>
              </a:rPr>
              <a:t>01</a:t>
            </a:r>
            <a:endParaRPr lang="en-US" sz="2200" dirty="0"/>
          </a:p>
        </p:txBody>
      </p:sp>
      <p:sp>
        <p:nvSpPr>
          <p:cNvPr id="5" name="Text 3"/>
          <p:cNvSpPr/>
          <p:nvPr/>
        </p:nvSpPr>
        <p:spPr>
          <a:xfrm>
            <a:off x="1600200" y="1856232"/>
            <a:ext cx="9692640" cy="777240"/>
          </a:xfrm>
          <a:prstGeom prst="rect">
            <a:avLst/>
          </a:prstGeom>
          <a:noFill/>
          <a:ln/>
        </p:spPr>
        <p:txBody>
          <a:bodyPr wrap="square" rtlCol="0" anchor="ctr"/>
          <a:lstStyle/>
          <a:p>
            <a:pPr marL="0" indent="0">
              <a:lnSpc>
                <a:spcPct val="135000"/>
              </a:lnSpc>
              <a:buNone/>
            </a:pPr>
            <a:r>
              <a:rPr lang="en-US" sz="1250" dirty="0">
                <a:solidFill>
                  <a:srgbClr val="1E2530"/>
                </a:solidFill>
                <a:latin typeface="Calibri" pitchFamily="34" charset="0"/>
                <a:ea typeface="Calibri" pitchFamily="34" charset="-122"/>
                <a:cs typeface="Calibri" pitchFamily="34" charset="-120"/>
              </a:rPr>
              <a:t>Klasifikasi gestur berbasis landmark MediaPipe efisien mereduksi kompleksitas data video menjadi data tabular berdimensi rendah (63 fitur).</a:t>
            </a:r>
            <a:endParaRPr lang="en-US" sz="1250" dirty="0"/>
          </a:p>
        </p:txBody>
      </p:sp>
      <p:sp>
        <p:nvSpPr>
          <p:cNvPr id="6" name="Shape 4"/>
          <p:cNvSpPr/>
          <p:nvPr/>
        </p:nvSpPr>
        <p:spPr>
          <a:xfrm>
            <a:off x="822960" y="2651760"/>
            <a:ext cx="10515600" cy="0"/>
          </a:xfrm>
          <a:prstGeom prst="line">
            <a:avLst/>
          </a:prstGeom>
          <a:noFill/>
          <a:ln w="9525">
            <a:solidFill>
              <a:srgbClr val="D9DEE6"/>
            </a:solidFill>
            <a:prstDash val="solid"/>
          </a:ln>
        </p:spPr>
      </p:sp>
      <p:sp>
        <p:nvSpPr>
          <p:cNvPr id="7" name="Text 5"/>
          <p:cNvSpPr/>
          <p:nvPr/>
        </p:nvSpPr>
        <p:spPr>
          <a:xfrm>
            <a:off x="822960" y="2834640"/>
            <a:ext cx="640080" cy="822960"/>
          </a:xfrm>
          <a:prstGeom prst="rect">
            <a:avLst/>
          </a:prstGeom>
          <a:noFill/>
          <a:ln/>
        </p:spPr>
        <p:txBody>
          <a:bodyPr wrap="square" rtlCol="0" anchor="ctr"/>
          <a:lstStyle/>
          <a:p>
            <a:pPr marL="0" indent="0">
              <a:buNone/>
            </a:pPr>
            <a:r>
              <a:rPr lang="en-US" sz="2200" b="1" dirty="0">
                <a:solidFill>
                  <a:srgbClr val="D9DEE6"/>
                </a:solidFill>
                <a:latin typeface="Cambria" pitchFamily="34" charset="0"/>
                <a:ea typeface="Cambria" pitchFamily="34" charset="-122"/>
                <a:cs typeface="Cambria" pitchFamily="34" charset="-120"/>
              </a:rPr>
              <a:t>02</a:t>
            </a:r>
            <a:endParaRPr lang="en-US" sz="2200" dirty="0"/>
          </a:p>
        </p:txBody>
      </p:sp>
      <p:sp>
        <p:nvSpPr>
          <p:cNvPr id="8" name="Text 6"/>
          <p:cNvSpPr/>
          <p:nvPr/>
        </p:nvSpPr>
        <p:spPr>
          <a:xfrm>
            <a:off x="1600200" y="2907792"/>
            <a:ext cx="9692640" cy="777240"/>
          </a:xfrm>
          <a:prstGeom prst="rect">
            <a:avLst/>
          </a:prstGeom>
          <a:noFill/>
          <a:ln/>
        </p:spPr>
        <p:txBody>
          <a:bodyPr wrap="square" rtlCol="0" anchor="ctr"/>
          <a:lstStyle/>
          <a:p>
            <a:pPr marL="0" indent="0">
              <a:lnSpc>
                <a:spcPct val="135000"/>
              </a:lnSpc>
              <a:buNone/>
            </a:pPr>
            <a:r>
              <a:rPr lang="en-US" sz="1250" dirty="0">
                <a:solidFill>
                  <a:srgbClr val="1E2530"/>
                </a:solidFill>
                <a:latin typeface="Calibri" pitchFamily="34" charset="0"/>
                <a:ea typeface="Calibri" pitchFamily="34" charset="-122"/>
                <a:cs typeface="Calibri" pitchFamily="34" charset="-120"/>
              </a:rPr>
              <a:t>SVM Kernel Linear terpilih sebagai model terbaik: akurasi 93.55%, ukuran file sangat ringan (≈ 8.4 MB), jauh mengungguli Random Forest (82.03%).</a:t>
            </a:r>
            <a:endParaRPr lang="en-US" sz="1250" dirty="0"/>
          </a:p>
        </p:txBody>
      </p:sp>
      <p:sp>
        <p:nvSpPr>
          <p:cNvPr id="9" name="Shape 7"/>
          <p:cNvSpPr/>
          <p:nvPr/>
        </p:nvSpPr>
        <p:spPr>
          <a:xfrm>
            <a:off x="822960" y="3703320"/>
            <a:ext cx="10515600" cy="0"/>
          </a:xfrm>
          <a:prstGeom prst="line">
            <a:avLst/>
          </a:prstGeom>
          <a:noFill/>
          <a:ln w="9525">
            <a:solidFill>
              <a:srgbClr val="D9DEE6"/>
            </a:solidFill>
            <a:prstDash val="solid"/>
          </a:ln>
        </p:spPr>
      </p:sp>
      <p:sp>
        <p:nvSpPr>
          <p:cNvPr id="10" name="Text 8"/>
          <p:cNvSpPr/>
          <p:nvPr/>
        </p:nvSpPr>
        <p:spPr>
          <a:xfrm>
            <a:off x="822960" y="3886200"/>
            <a:ext cx="640080" cy="822960"/>
          </a:xfrm>
          <a:prstGeom prst="rect">
            <a:avLst/>
          </a:prstGeom>
          <a:noFill/>
          <a:ln/>
        </p:spPr>
        <p:txBody>
          <a:bodyPr wrap="square" rtlCol="0" anchor="ctr"/>
          <a:lstStyle/>
          <a:p>
            <a:pPr marL="0" indent="0">
              <a:buNone/>
            </a:pPr>
            <a:r>
              <a:rPr lang="en-US" sz="2200" b="1" dirty="0">
                <a:solidFill>
                  <a:srgbClr val="D9DEE6"/>
                </a:solidFill>
                <a:latin typeface="Cambria" pitchFamily="34" charset="0"/>
                <a:ea typeface="Cambria" pitchFamily="34" charset="-122"/>
                <a:cs typeface="Cambria" pitchFamily="34" charset="-120"/>
              </a:rPr>
              <a:t>03</a:t>
            </a:r>
            <a:endParaRPr lang="en-US" sz="2200" dirty="0"/>
          </a:p>
        </p:txBody>
      </p:sp>
      <p:sp>
        <p:nvSpPr>
          <p:cNvPr id="11" name="Text 9"/>
          <p:cNvSpPr/>
          <p:nvPr/>
        </p:nvSpPr>
        <p:spPr>
          <a:xfrm>
            <a:off x="1600200" y="3959352"/>
            <a:ext cx="9692640" cy="777240"/>
          </a:xfrm>
          <a:prstGeom prst="rect">
            <a:avLst/>
          </a:prstGeom>
          <a:noFill/>
          <a:ln/>
        </p:spPr>
        <p:txBody>
          <a:bodyPr wrap="square" rtlCol="0" anchor="ctr"/>
          <a:lstStyle/>
          <a:p>
            <a:pPr marL="0" indent="0">
              <a:lnSpc>
                <a:spcPct val="135000"/>
              </a:lnSpc>
              <a:buNone/>
            </a:pPr>
            <a:r>
              <a:rPr lang="en-US" sz="1250" dirty="0">
                <a:solidFill>
                  <a:srgbClr val="1E2530"/>
                </a:solidFill>
                <a:latin typeface="Calibri" pitchFamily="34" charset="0"/>
                <a:ea typeface="Calibri" pitchFamily="34" charset="-122"/>
                <a:cs typeface="Calibri" pitchFamily="34" charset="-120"/>
              </a:rPr>
              <a:t>SHAP menjelaskan secara transparan bahwa koordinat vertikal jari telunjuk (y8) dan jari tengah (y12) merupakan fitur penentu utama.</a:t>
            </a:r>
            <a:endParaRPr lang="en-US" sz="1250" dirty="0"/>
          </a:p>
        </p:txBody>
      </p:sp>
      <p:sp>
        <p:nvSpPr>
          <p:cNvPr id="12" name="Shape 10"/>
          <p:cNvSpPr/>
          <p:nvPr/>
        </p:nvSpPr>
        <p:spPr>
          <a:xfrm>
            <a:off x="822960" y="4754880"/>
            <a:ext cx="10515600" cy="0"/>
          </a:xfrm>
          <a:prstGeom prst="line">
            <a:avLst/>
          </a:prstGeom>
          <a:noFill/>
          <a:ln w="9525">
            <a:solidFill>
              <a:srgbClr val="D9DEE6"/>
            </a:solidFill>
            <a:prstDash val="solid"/>
          </a:ln>
        </p:spPr>
      </p:sp>
      <p:sp>
        <p:nvSpPr>
          <p:cNvPr id="13" name="Text 11"/>
          <p:cNvSpPr/>
          <p:nvPr/>
        </p:nvSpPr>
        <p:spPr>
          <a:xfrm>
            <a:off x="822960" y="4937760"/>
            <a:ext cx="640080" cy="822960"/>
          </a:xfrm>
          <a:prstGeom prst="rect">
            <a:avLst/>
          </a:prstGeom>
          <a:noFill/>
          <a:ln/>
        </p:spPr>
        <p:txBody>
          <a:bodyPr wrap="square" rtlCol="0" anchor="ctr"/>
          <a:lstStyle/>
          <a:p>
            <a:pPr marL="0" indent="0">
              <a:buNone/>
            </a:pPr>
            <a:r>
              <a:rPr lang="en-US" sz="2200" b="1" dirty="0">
                <a:solidFill>
                  <a:srgbClr val="D9DEE6"/>
                </a:solidFill>
                <a:latin typeface="Cambria" pitchFamily="34" charset="0"/>
                <a:ea typeface="Cambria" pitchFamily="34" charset="-122"/>
                <a:cs typeface="Cambria" pitchFamily="34" charset="-120"/>
              </a:rPr>
              <a:t>04</a:t>
            </a:r>
            <a:endParaRPr lang="en-US" sz="2200" dirty="0"/>
          </a:p>
        </p:txBody>
      </p:sp>
      <p:sp>
        <p:nvSpPr>
          <p:cNvPr id="14" name="Text 12"/>
          <p:cNvSpPr/>
          <p:nvPr/>
        </p:nvSpPr>
        <p:spPr>
          <a:xfrm>
            <a:off x="1600200" y="5010912"/>
            <a:ext cx="9692640" cy="777240"/>
          </a:xfrm>
          <a:prstGeom prst="rect">
            <a:avLst/>
          </a:prstGeom>
          <a:noFill/>
          <a:ln/>
        </p:spPr>
        <p:txBody>
          <a:bodyPr wrap="square" rtlCol="0" anchor="ctr"/>
          <a:lstStyle/>
          <a:p>
            <a:pPr marL="0" indent="0">
              <a:lnSpc>
                <a:spcPct val="135000"/>
              </a:lnSpc>
              <a:buNone/>
            </a:pPr>
            <a:r>
              <a:rPr lang="en-US" sz="1250" dirty="0">
                <a:solidFill>
                  <a:srgbClr val="1E2530"/>
                </a:solidFill>
                <a:latin typeface="Calibri" pitchFamily="34" charset="0"/>
                <a:ea typeface="Calibri" pitchFamily="34" charset="-122"/>
                <a:cs typeface="Calibri" pitchFamily="34" charset="-120"/>
              </a:rPr>
              <a:t>Sistem saklar smart home virtual berhasil disebarkan pada dashboard Streamlit interaktif dengan pemrosesan frame real-time dan akurasi tinggi.</a:t>
            </a:r>
            <a:endParaRPr lang="en-US" sz="1250" dirty="0"/>
          </a:p>
        </p:txBody>
      </p:sp>
      <p:sp>
        <p:nvSpPr>
          <p:cNvPr id="15" name="Text 13"/>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7315200" cy="274320"/>
          </a:xfrm>
          <a:prstGeom prst="rect">
            <a:avLst/>
          </a:prstGeom>
          <a:noFill/>
          <a:ln/>
        </p:spPr>
        <p:txBody>
          <a:bodyPr wrap="square" rtlCol="0" anchor="ctr"/>
          <a:lstStyle/>
          <a:p>
            <a:pPr marL="0" indent="0">
              <a:buNone/>
            </a:pPr>
            <a:r>
              <a:rPr lang="en-US" sz="1100" b="1" kern="0" spc="200" dirty="0">
                <a:solidFill>
                  <a:srgbClr val="2E6E63"/>
                </a:solidFill>
                <a:latin typeface="Calibri" pitchFamily="34" charset="0"/>
                <a:ea typeface="Calibri" pitchFamily="34" charset="-122"/>
                <a:cs typeface="Calibri" pitchFamily="34" charset="-120"/>
              </a:rPr>
              <a:t>09. REKOMENDASI</a:t>
            </a:r>
            <a:endParaRPr lang="en-US" sz="1100" dirty="0"/>
          </a:p>
        </p:txBody>
      </p:sp>
      <p:sp>
        <p:nvSpPr>
          <p:cNvPr id="3" name="Text 1"/>
          <p:cNvSpPr/>
          <p:nvPr/>
        </p:nvSpPr>
        <p:spPr>
          <a:xfrm>
            <a:off x="822960" y="896112"/>
            <a:ext cx="10515600" cy="594360"/>
          </a:xfrm>
          <a:prstGeom prst="rect">
            <a:avLst/>
          </a:prstGeom>
          <a:noFill/>
          <a:ln/>
        </p:spPr>
        <p:txBody>
          <a:bodyPr wrap="square" rtlCol="0" anchor="ctr"/>
          <a:lstStyle/>
          <a:p>
            <a:pPr marL="0" indent="0">
              <a:buNone/>
            </a:pPr>
            <a:r>
              <a:rPr lang="en-US" sz="2500" b="1" dirty="0">
                <a:solidFill>
                  <a:srgbClr val="1E2530"/>
                </a:solidFill>
                <a:latin typeface="Cambria" pitchFamily="34" charset="0"/>
                <a:ea typeface="Cambria" pitchFamily="34" charset="-122"/>
                <a:cs typeface="Cambria" pitchFamily="34" charset="-120"/>
              </a:rPr>
              <a:t>Rekomendasi Pengembangan Selanjutnya</a:t>
            </a:r>
            <a:endParaRPr lang="en-US" sz="2500" dirty="0"/>
          </a:p>
        </p:txBody>
      </p:sp>
      <p:sp>
        <p:nvSpPr>
          <p:cNvPr id="4" name="Text 2"/>
          <p:cNvSpPr/>
          <p:nvPr/>
        </p:nvSpPr>
        <p:spPr>
          <a:xfrm>
            <a:off x="822960" y="2011680"/>
            <a:ext cx="5120640" cy="411480"/>
          </a:xfrm>
          <a:prstGeom prst="rect">
            <a:avLst/>
          </a:prstGeom>
          <a:noFill/>
          <a:ln/>
        </p:spPr>
        <p:txBody>
          <a:bodyPr wrap="square" rtlCol="0" anchor="ctr"/>
          <a:lstStyle/>
          <a:p>
            <a:pPr marL="0" indent="0">
              <a:buNone/>
            </a:pPr>
            <a:r>
              <a:rPr lang="en-US" sz="1700" b="1" dirty="0">
                <a:solidFill>
                  <a:srgbClr val="1E2530"/>
                </a:solidFill>
                <a:latin typeface="Cambria" pitchFamily="34" charset="0"/>
                <a:ea typeface="Cambria" pitchFamily="34" charset="-122"/>
                <a:cs typeface="Cambria" pitchFamily="34" charset="-120"/>
              </a:rPr>
              <a:t>Normalisasi Spasial Invarian</a:t>
            </a:r>
            <a:endParaRPr lang="en-US" sz="1700" dirty="0"/>
          </a:p>
        </p:txBody>
      </p:sp>
      <p:sp>
        <p:nvSpPr>
          <p:cNvPr id="5" name="Text 3"/>
          <p:cNvSpPr/>
          <p:nvPr/>
        </p:nvSpPr>
        <p:spPr>
          <a:xfrm>
            <a:off x="822960" y="2606040"/>
            <a:ext cx="5029200" cy="2011680"/>
          </a:xfrm>
          <a:prstGeom prst="rect">
            <a:avLst/>
          </a:prstGeom>
          <a:noFill/>
          <a:ln/>
        </p:spPr>
        <p:txBody>
          <a:bodyPr wrap="square" rtlCol="0" anchor="ctr"/>
          <a:lstStyle/>
          <a:p>
            <a:pPr marL="0" indent="0">
              <a:lnSpc>
                <a:spcPct val="140000"/>
              </a:lnSpc>
              <a:buNone/>
            </a:pPr>
            <a:r>
              <a:rPr lang="en-US" sz="1150" dirty="0">
                <a:solidFill>
                  <a:srgbClr val="5B6472"/>
                </a:solidFill>
                <a:latin typeface="Calibri" pitchFamily="34" charset="0"/>
                <a:ea typeface="Calibri" pitchFamily="34" charset="-122"/>
                <a:cs typeface="Calibri" pitchFamily="34" charset="-120"/>
              </a:rPr>
              <a:t>Disarankan menjadikan koordinat pergelangan tangan (x1, y1) sebagai pusat (0,0) dan membaginya dengan panjang telapak tangan. Pendekatan ini membuat sistem tetap akurat meskipun posisi tangan lebih dekat, lebih jauh dari kamera, atau miring — invarian terhadap skala dan rotasi.</a:t>
            </a:r>
            <a:endParaRPr lang="en-US" sz="1150" dirty="0"/>
          </a:p>
        </p:txBody>
      </p:sp>
      <p:sp>
        <p:nvSpPr>
          <p:cNvPr id="6" name="Shape 4"/>
          <p:cNvSpPr/>
          <p:nvPr/>
        </p:nvSpPr>
        <p:spPr>
          <a:xfrm>
            <a:off x="6263640" y="2011680"/>
            <a:ext cx="0" cy="2926080"/>
          </a:xfrm>
          <a:prstGeom prst="line">
            <a:avLst/>
          </a:prstGeom>
          <a:noFill/>
          <a:ln w="12700">
            <a:solidFill>
              <a:srgbClr val="D9DEE6"/>
            </a:solidFill>
            <a:prstDash val="solid"/>
          </a:ln>
        </p:spPr>
      </p:sp>
      <p:sp>
        <p:nvSpPr>
          <p:cNvPr id="7" name="Text 5"/>
          <p:cNvSpPr/>
          <p:nvPr/>
        </p:nvSpPr>
        <p:spPr>
          <a:xfrm>
            <a:off x="6537960" y="2011680"/>
            <a:ext cx="4937760" cy="411480"/>
          </a:xfrm>
          <a:prstGeom prst="rect">
            <a:avLst/>
          </a:prstGeom>
          <a:noFill/>
          <a:ln/>
        </p:spPr>
        <p:txBody>
          <a:bodyPr wrap="square" rtlCol="0" anchor="ctr"/>
          <a:lstStyle/>
          <a:p>
            <a:pPr marL="0" indent="0">
              <a:buNone/>
            </a:pPr>
            <a:r>
              <a:rPr lang="en-US" sz="1700" b="1" dirty="0">
                <a:solidFill>
                  <a:srgbClr val="1E2530"/>
                </a:solidFill>
                <a:latin typeface="Cambria" pitchFamily="34" charset="0"/>
                <a:ea typeface="Cambria" pitchFamily="34" charset="-122"/>
                <a:cs typeface="Cambria" pitchFamily="34" charset="-120"/>
              </a:rPr>
              <a:t>Variasi Intensitas Cahaya</a:t>
            </a:r>
            <a:endParaRPr lang="en-US" sz="1700" dirty="0"/>
          </a:p>
        </p:txBody>
      </p:sp>
      <p:sp>
        <p:nvSpPr>
          <p:cNvPr id="8" name="Text 6"/>
          <p:cNvSpPr/>
          <p:nvPr/>
        </p:nvSpPr>
        <p:spPr>
          <a:xfrm>
            <a:off x="6537960" y="2606040"/>
            <a:ext cx="4846320" cy="2011680"/>
          </a:xfrm>
          <a:prstGeom prst="rect">
            <a:avLst/>
          </a:prstGeom>
          <a:noFill/>
          <a:ln/>
        </p:spPr>
        <p:txBody>
          <a:bodyPr wrap="square" rtlCol="0" anchor="ctr"/>
          <a:lstStyle/>
          <a:p>
            <a:pPr marL="0" indent="0">
              <a:lnSpc>
                <a:spcPct val="140000"/>
              </a:lnSpc>
              <a:buNone/>
            </a:pPr>
            <a:r>
              <a:rPr lang="en-US" sz="1150" dirty="0">
                <a:solidFill>
                  <a:srgbClr val="5B6472"/>
                </a:solidFill>
                <a:latin typeface="Calibri" pitchFamily="34" charset="0"/>
                <a:ea typeface="Calibri" pitchFamily="34" charset="-122"/>
                <a:cs typeface="Calibri" pitchFamily="34" charset="-120"/>
              </a:rPr>
              <a:t>Dataset di masa mendatang perlu mencakup variasi lingkungan dengan pencahayaan rendah, agar model menjadi lebih tangguh terhadap skenario penggunaan pada malam hari di rumah.</a:t>
            </a:r>
            <a:endParaRPr lang="en-US" sz="1150" dirty="0"/>
          </a:p>
        </p:txBody>
      </p:sp>
      <p:sp>
        <p:nvSpPr>
          <p:cNvPr id="9" name="Text 7"/>
          <p:cNvSpPr/>
          <p:nvPr/>
        </p:nvSpPr>
        <p:spPr>
          <a:xfrm>
            <a:off x="11368735" y="6400800"/>
            <a:ext cx="457200" cy="274320"/>
          </a:xfrm>
          <a:prstGeom prst="rect">
            <a:avLst/>
          </a:prstGeom>
          <a:noFill/>
          <a:ln/>
        </p:spPr>
        <p:txBody>
          <a:bodyPr wrap="square" rtlCol="0" anchor="ctr"/>
          <a:lstStyle/>
          <a:p>
            <a:pPr marL="0" indent="0" algn="r">
              <a:buNone/>
            </a:pPr>
            <a:r>
              <a:rPr lang="en-US" sz="900" dirty="0">
                <a:solidFill>
                  <a:srgbClr val="9AA2A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23B"/>
        </a:solidFill>
        <a:effectLst/>
      </p:bgPr>
    </p:bg>
    <p:spTree>
      <p:nvGrpSpPr>
        <p:cNvPr id="1" name=""/>
        <p:cNvGrpSpPr/>
        <p:nvPr/>
      </p:nvGrpSpPr>
      <p:grpSpPr>
        <a:xfrm>
          <a:off x="0" y="0"/>
          <a:ext cx="0" cy="0"/>
          <a:chOff x="0" y="0"/>
          <a:chExt cx="0" cy="0"/>
        </a:xfrm>
      </p:grpSpPr>
      <p:sp>
        <p:nvSpPr>
          <p:cNvPr id="2" name="Text 0"/>
          <p:cNvSpPr/>
          <p:nvPr/>
        </p:nvSpPr>
        <p:spPr>
          <a:xfrm>
            <a:off x="822960" y="2743200"/>
            <a:ext cx="10515600" cy="82296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Terima Kasih</a:t>
            </a:r>
            <a:endParaRPr lang="en-US" sz="3800" dirty="0"/>
          </a:p>
        </p:txBody>
      </p:sp>
      <p:sp>
        <p:nvSpPr>
          <p:cNvPr id="3" name="Text 1"/>
          <p:cNvSpPr/>
          <p:nvPr/>
        </p:nvSpPr>
        <p:spPr>
          <a:xfrm>
            <a:off x="822960" y="3520440"/>
            <a:ext cx="10332720" cy="365760"/>
          </a:xfrm>
          <a:prstGeom prst="rect">
            <a:avLst/>
          </a:prstGeom>
          <a:noFill/>
          <a:ln/>
        </p:spPr>
        <p:txBody>
          <a:bodyPr wrap="square" rtlCol="0" anchor="ctr"/>
          <a:lstStyle/>
          <a:p>
            <a:pPr marL="0" indent="0">
              <a:buNone/>
            </a:pPr>
            <a:r>
              <a:rPr lang="en-US" sz="1300" dirty="0">
                <a:solidFill>
                  <a:srgbClr val="9AA2AD"/>
                </a:solidFill>
                <a:latin typeface="Calibri" pitchFamily="34" charset="0"/>
                <a:ea typeface="Calibri" pitchFamily="34" charset="-122"/>
                <a:cs typeface="Calibri" pitchFamily="34" charset="-120"/>
              </a:rPr>
              <a:t>AI-Powered Smart Home Control — Klasifikasi Gestur Tangan Real-Time Berbasis Hand Landmark</a:t>
            </a:r>
            <a:endParaRPr lang="en-US" sz="1300" dirty="0"/>
          </a:p>
        </p:txBody>
      </p:sp>
      <p:sp>
        <p:nvSpPr>
          <p:cNvPr id="4" name="Shape 2"/>
          <p:cNvSpPr/>
          <p:nvPr/>
        </p:nvSpPr>
        <p:spPr>
          <a:xfrm>
            <a:off x="822960" y="4160520"/>
            <a:ext cx="10332720" cy="0"/>
          </a:xfrm>
          <a:prstGeom prst="line">
            <a:avLst/>
          </a:prstGeom>
          <a:noFill/>
          <a:ln w="9525">
            <a:solidFill>
              <a:srgbClr val="2B3A56"/>
            </a:solidFill>
            <a:prstDash val="solid"/>
          </a:ln>
        </p:spPr>
      </p:sp>
      <p:sp>
        <p:nvSpPr>
          <p:cNvPr id="5" name="Text 3"/>
          <p:cNvSpPr/>
          <p:nvPr/>
        </p:nvSpPr>
        <p:spPr>
          <a:xfrm>
            <a:off x="822960" y="4343400"/>
            <a:ext cx="10332720" cy="320040"/>
          </a:xfrm>
          <a:prstGeom prst="rect">
            <a:avLst/>
          </a:prstGeom>
          <a:noFill/>
          <a:ln/>
        </p:spPr>
        <p:txBody>
          <a:bodyPr wrap="square" rtlCol="0" anchor="ctr"/>
          <a:lstStyle/>
          <a:p>
            <a:pPr marL="0" indent="0">
              <a:buNone/>
            </a:pPr>
            <a:r>
              <a:rPr lang="en-US" sz="1150" dirty="0">
                <a:solidFill>
                  <a:srgbClr val="8B95A6"/>
                </a:solidFill>
                <a:latin typeface="Calibri" pitchFamily="34" charset="0"/>
                <a:ea typeface="Calibri" pitchFamily="34" charset="-122"/>
                <a:cs typeface="Calibri" pitchFamily="34" charset="-120"/>
              </a:rPr>
              <a:t>Muhammad Zakaria </a:t>
            </a:r>
            <a:r>
              <a:rPr lang="en-US" sz="1150" dirty="0" err="1">
                <a:solidFill>
                  <a:srgbClr val="8B95A6"/>
                </a:solidFill>
                <a:latin typeface="Calibri" pitchFamily="34" charset="0"/>
                <a:ea typeface="Calibri" pitchFamily="34" charset="-122"/>
                <a:cs typeface="Calibri" pitchFamily="34" charset="-120"/>
              </a:rPr>
              <a:t>Putranto</a:t>
            </a:r>
            <a:r>
              <a:rPr lang="en-US" sz="1150" dirty="0">
                <a:solidFill>
                  <a:srgbClr val="8B95A6"/>
                </a:solidFill>
                <a:latin typeface="Calibri" pitchFamily="34" charset="0"/>
                <a:ea typeface="Calibri" pitchFamily="34" charset="-122"/>
                <a:cs typeface="Calibri" pitchFamily="34" charset="-120"/>
              </a:rPr>
              <a:t>  —  Universitas Dian Nuswantoro (UDINUS)</a:t>
            </a:r>
            <a:endParaRPr lang="en-US" sz="1150" dirty="0"/>
          </a:p>
        </p:txBody>
      </p:sp>
      <p:sp>
        <p:nvSpPr>
          <p:cNvPr id="6" name="Text 4"/>
          <p:cNvSpPr/>
          <p:nvPr/>
        </p:nvSpPr>
        <p:spPr>
          <a:xfrm>
            <a:off x="822960" y="4617720"/>
            <a:ext cx="10332720" cy="320040"/>
          </a:xfrm>
          <a:prstGeom prst="rect">
            <a:avLst/>
          </a:prstGeom>
          <a:noFill/>
          <a:ln/>
        </p:spPr>
        <p:txBody>
          <a:bodyPr wrap="square" rtlCol="0" anchor="ctr"/>
          <a:lstStyle/>
          <a:p>
            <a:pPr marL="0" indent="0">
              <a:buNone/>
            </a:pPr>
            <a:r>
              <a:rPr lang="en-US" sz="1150" dirty="0">
                <a:solidFill>
                  <a:srgbClr val="8B95A6"/>
                </a:solidFill>
                <a:latin typeface="Calibri" pitchFamily="34" charset="0"/>
                <a:ea typeface="Calibri" pitchFamily="34" charset="-122"/>
                <a:cs typeface="Calibri" pitchFamily="34" charset="-120"/>
              </a:rPr>
              <a:t>Capstone Project — UAS Pembelajaran Mesin, Genap 2025/2026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1445</Words>
  <Application>Microsoft Office PowerPoint</Application>
  <PresentationFormat>Widescreen</PresentationFormat>
  <Paragraphs>198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Muhammad Zakaria</cp:lastModifiedBy>
  <cp:revision>6</cp:revision>
  <dcterms:created xsi:type="dcterms:W3CDTF">2026-07-17T22:26:13Z</dcterms:created>
  <dcterms:modified xsi:type="dcterms:W3CDTF">2026-07-18T21:08:23Z</dcterms:modified>
</cp:coreProperties>
</file>